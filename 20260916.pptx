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  <p:sldMasterId id="2147483672" r:id="rId4"/>
  </p:sldMasterIdLst>
  <p:notesMasterIdLst>
    <p:notesMasterId r:id="rId6"/>
  </p:notesMasterIdLst>
  <p:handoutMasterIdLst>
    <p:handoutMasterId r:id="rId39"/>
  </p:handoutMasterIdLst>
  <p:sldIdLst>
    <p:sldId id="256" r:id="rId5"/>
    <p:sldId id="601" r:id="rId7"/>
    <p:sldId id="339" r:id="rId8"/>
    <p:sldId id="325" r:id="rId9"/>
    <p:sldId id="649" r:id="rId10"/>
    <p:sldId id="338" r:id="rId11"/>
    <p:sldId id="326" r:id="rId12"/>
    <p:sldId id="650" r:id="rId13"/>
    <p:sldId id="716" r:id="rId14"/>
    <p:sldId id="717" r:id="rId15"/>
    <p:sldId id="719" r:id="rId16"/>
    <p:sldId id="668" r:id="rId17"/>
    <p:sldId id="737" r:id="rId18"/>
    <p:sldId id="720" r:id="rId19"/>
    <p:sldId id="721" r:id="rId20"/>
    <p:sldId id="722" r:id="rId21"/>
    <p:sldId id="740" r:id="rId22"/>
    <p:sldId id="723" r:id="rId23"/>
    <p:sldId id="724" r:id="rId24"/>
    <p:sldId id="686" r:id="rId25"/>
    <p:sldId id="758" r:id="rId26"/>
    <p:sldId id="738" r:id="rId27"/>
    <p:sldId id="756" r:id="rId28"/>
    <p:sldId id="690" r:id="rId29"/>
    <p:sldId id="667" r:id="rId30"/>
    <p:sldId id="739" r:id="rId31"/>
    <p:sldId id="656" r:id="rId32"/>
    <p:sldId id="718" r:id="rId33"/>
    <p:sldId id="652" r:id="rId34"/>
    <p:sldId id="653" r:id="rId35"/>
    <p:sldId id="669" r:id="rId36"/>
    <p:sldId id="728" r:id="rId37"/>
    <p:sldId id="647" r:id="rId38"/>
  </p:sldIdLst>
  <p:sldSz cx="12192000" cy="6858000"/>
  <p:notesSz cx="10234295" cy="710374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ello" initials="n" lastIdx="0" clrIdx="0"/>
  <p:cmAuthor id="2" name="作者" initials="A" lastIdx="0" clrIdx="1"/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D41"/>
    <a:srgbClr val="B2B2B2"/>
    <a:srgbClr val="202020"/>
    <a:srgbClr val="323232"/>
    <a:srgbClr val="CC3300"/>
    <a:srgbClr val="CC0000"/>
    <a:srgbClr val="FF3300"/>
    <a:srgbClr val="9900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438"/>
  </p:normalViewPr>
  <p:slideViewPr>
    <p:cSldViewPr snapToGrid="0" showGuides="1">
      <p:cViewPr varScale="1">
        <p:scale>
          <a:sx n="109" d="100"/>
          <a:sy n="109" d="100"/>
        </p:scale>
        <p:origin x="1360" y="184"/>
      </p:cViewPr>
      <p:guideLst>
        <p:guide orient="horz" pos="216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3" Type="http://schemas.openxmlformats.org/officeDocument/2006/relationships/commentAuthors" Target="commentAuthors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Master" Target="slideMasters/slideMaster3.xml"/><Relationship Id="rId39" Type="http://schemas.openxmlformats.org/officeDocument/2006/relationships/handoutMaster" Target="handoutMasters/handoutMaster1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/Users/hrd/Documents/MEIC/&#22788;&#29702;&#21518;&#30340;&#25968;&#25454;/PRD_&#25490;&#25918;&#28304;&#21464;&#21270;&#27604;&#20363;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emission_ratio</a:t>
            </a:r>
            <a:endParaRPr lang="en-US" altLang="zh-CN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4"/>
          <c:order val="0"/>
          <c:tx>
            <c:strRef>
              <c:f>[PRD_排放源变化比例.xlsx]SO2_NH3_NOx比例!$F$1</c:f>
              <c:strCache>
                <c:ptCount val="1"/>
                <c:pt idx="0">
                  <c:v>Ratio_NOx</c:v>
                </c:pt>
              </c:strCache>
            </c:strRef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dLbls>
            <c:delete val="1"/>
          </c:dLbls>
          <c:xVal>
            <c:numRef>
              <c:f>[PRD_排放源变化比例.xlsx]SO2_NH3_NOx比例!$A$2:$A$35</c:f>
              <c:numCache>
                <c:formatCode>General</c:formatCode>
                <c:ptCount val="34"/>
                <c:pt idx="0">
                  <c:v>1990</c:v>
                </c:pt>
                <c:pt idx="1">
                  <c:v>1991</c:v>
                </c:pt>
                <c:pt idx="2">
                  <c:v>1992</c:v>
                </c:pt>
                <c:pt idx="3">
                  <c:v>1993</c:v>
                </c:pt>
                <c:pt idx="4">
                  <c:v>1994</c:v>
                </c:pt>
                <c:pt idx="5">
                  <c:v>1995</c:v>
                </c:pt>
                <c:pt idx="6">
                  <c:v>1996</c:v>
                </c:pt>
                <c:pt idx="7">
                  <c:v>1997</c:v>
                </c:pt>
                <c:pt idx="8">
                  <c:v>1998</c:v>
                </c:pt>
                <c:pt idx="9">
                  <c:v>1999</c:v>
                </c:pt>
                <c:pt idx="10">
                  <c:v>2000</c:v>
                </c:pt>
                <c:pt idx="11">
                  <c:v>2001</c:v>
                </c:pt>
                <c:pt idx="12">
                  <c:v>2002</c:v>
                </c:pt>
                <c:pt idx="13">
                  <c:v>2003</c:v>
                </c:pt>
                <c:pt idx="14">
                  <c:v>2004</c:v>
                </c:pt>
                <c:pt idx="15">
                  <c:v>2005</c:v>
                </c:pt>
                <c:pt idx="16">
                  <c:v>2006</c:v>
                </c:pt>
                <c:pt idx="17">
                  <c:v>2007</c:v>
                </c:pt>
                <c:pt idx="18">
                  <c:v>2008</c:v>
                </c:pt>
                <c:pt idx="19">
                  <c:v>2009</c:v>
                </c:pt>
                <c:pt idx="20">
                  <c:v>2010</c:v>
                </c:pt>
                <c:pt idx="21">
                  <c:v>2011</c:v>
                </c:pt>
                <c:pt idx="22">
                  <c:v>2012</c:v>
                </c:pt>
                <c:pt idx="23">
                  <c:v>2013</c:v>
                </c:pt>
                <c:pt idx="24">
                  <c:v>2014</c:v>
                </c:pt>
                <c:pt idx="25">
                  <c:v>2015</c:v>
                </c:pt>
                <c:pt idx="26">
                  <c:v>2016</c:v>
                </c:pt>
                <c:pt idx="27">
                  <c:v>2017</c:v>
                </c:pt>
                <c:pt idx="28">
                  <c:v>2018</c:v>
                </c:pt>
                <c:pt idx="29">
                  <c:v>2019</c:v>
                </c:pt>
                <c:pt idx="30">
                  <c:v>2020</c:v>
                </c:pt>
                <c:pt idx="31">
                  <c:v>2021</c:v>
                </c:pt>
                <c:pt idx="32">
                  <c:v>2022</c:v>
                </c:pt>
                <c:pt idx="33">
                  <c:v>2023</c:v>
                </c:pt>
              </c:numCache>
            </c:numRef>
          </c:xVal>
          <c:yVal>
            <c:numRef>
              <c:f>[PRD_排放源变化比例.xlsx]SO2_NH3_NOx比例!$F$2:$F$35</c:f>
              <c:numCache>
                <c:formatCode>General</c:formatCode>
                <c:ptCount val="34"/>
                <c:pt idx="0">
                  <c:v>0.377311058961164</c:v>
                </c:pt>
                <c:pt idx="1">
                  <c:v>0.363765739366124</c:v>
                </c:pt>
                <c:pt idx="2">
                  <c:v>0.344785305718134</c:v>
                </c:pt>
                <c:pt idx="3">
                  <c:v>0.293824862189473</c:v>
                </c:pt>
                <c:pt idx="4">
                  <c:v>0.303273803525723</c:v>
                </c:pt>
                <c:pt idx="5">
                  <c:v>0.272267284756416</c:v>
                </c:pt>
                <c:pt idx="6">
                  <c:v>0.25025993090584</c:v>
                </c:pt>
                <c:pt idx="7">
                  <c:v>0.240056800462387</c:v>
                </c:pt>
                <c:pt idx="8">
                  <c:v>0.241208871118066</c:v>
                </c:pt>
                <c:pt idx="9">
                  <c:v>0.225825350626843</c:v>
                </c:pt>
                <c:pt idx="10">
                  <c:v>0.206926680613321</c:v>
                </c:pt>
                <c:pt idx="11">
                  <c:v>0.207755532946817</c:v>
                </c:pt>
                <c:pt idx="12">
                  <c:v>0.187147848148142</c:v>
                </c:pt>
                <c:pt idx="13">
                  <c:v>0.180625324719419</c:v>
                </c:pt>
                <c:pt idx="14">
                  <c:v>0.150204204108512</c:v>
                </c:pt>
                <c:pt idx="15">
                  <c:v>0.134340587626773</c:v>
                </c:pt>
                <c:pt idx="16">
                  <c:v>0.132249400490931</c:v>
                </c:pt>
                <c:pt idx="17">
                  <c:v>0.129650508612011</c:v>
                </c:pt>
                <c:pt idx="18">
                  <c:v>0.132556965837556</c:v>
                </c:pt>
                <c:pt idx="19">
                  <c:v>0.132953278312644</c:v>
                </c:pt>
                <c:pt idx="20">
                  <c:v>0.124156046514091</c:v>
                </c:pt>
                <c:pt idx="21">
                  <c:v>0.125302793947926</c:v>
                </c:pt>
                <c:pt idx="22">
                  <c:v>0.114576175269817</c:v>
                </c:pt>
                <c:pt idx="23">
                  <c:v>0.122846890264097</c:v>
                </c:pt>
                <c:pt idx="24">
                  <c:v>0.138799994817512</c:v>
                </c:pt>
                <c:pt idx="25">
                  <c:v>0.141047982846852</c:v>
                </c:pt>
                <c:pt idx="26">
                  <c:v>0.149991846749959</c:v>
                </c:pt>
                <c:pt idx="27">
                  <c:v>0.155700091840022</c:v>
                </c:pt>
                <c:pt idx="28">
                  <c:v>0.144675366780246</c:v>
                </c:pt>
                <c:pt idx="29">
                  <c:v>0.139779748067996</c:v>
                </c:pt>
                <c:pt idx="30">
                  <c:v>0.149938173406229</c:v>
                </c:pt>
                <c:pt idx="31">
                  <c:v>0.149274608305543</c:v>
                </c:pt>
                <c:pt idx="32">
                  <c:v>0.155975565910458</c:v>
                </c:pt>
                <c:pt idx="33">
                  <c:v>0.14257213525694</c:v>
                </c:pt>
              </c:numCache>
            </c:numRef>
          </c:yVal>
          <c:smooth val="1"/>
        </c:ser>
        <c:ser>
          <c:idx val="5"/>
          <c:order val="1"/>
          <c:tx>
            <c:strRef>
              <c:f>[PRD_排放源变化比例.xlsx]SO2_NH3_NOx比例!$G$1</c:f>
              <c:strCache>
                <c:ptCount val="1"/>
                <c:pt idx="0">
                  <c:v>Ratio_NH3</c:v>
                </c:pt>
              </c:strCache>
            </c:strRef>
          </c:tx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dLbls>
            <c:delete val="1"/>
          </c:dLbls>
          <c:xVal>
            <c:numRef>
              <c:f>[PRD_排放源变化比例.xlsx]SO2_NH3_NOx比例!$A$2:$A$35</c:f>
              <c:numCache>
                <c:formatCode>General</c:formatCode>
                <c:ptCount val="34"/>
                <c:pt idx="0">
                  <c:v>1990</c:v>
                </c:pt>
                <c:pt idx="1">
                  <c:v>1991</c:v>
                </c:pt>
                <c:pt idx="2">
                  <c:v>1992</c:v>
                </c:pt>
                <c:pt idx="3">
                  <c:v>1993</c:v>
                </c:pt>
                <c:pt idx="4">
                  <c:v>1994</c:v>
                </c:pt>
                <c:pt idx="5">
                  <c:v>1995</c:v>
                </c:pt>
                <c:pt idx="6">
                  <c:v>1996</c:v>
                </c:pt>
                <c:pt idx="7">
                  <c:v>1997</c:v>
                </c:pt>
                <c:pt idx="8">
                  <c:v>1998</c:v>
                </c:pt>
                <c:pt idx="9">
                  <c:v>1999</c:v>
                </c:pt>
                <c:pt idx="10">
                  <c:v>2000</c:v>
                </c:pt>
                <c:pt idx="11">
                  <c:v>2001</c:v>
                </c:pt>
                <c:pt idx="12">
                  <c:v>2002</c:v>
                </c:pt>
                <c:pt idx="13">
                  <c:v>2003</c:v>
                </c:pt>
                <c:pt idx="14">
                  <c:v>2004</c:v>
                </c:pt>
                <c:pt idx="15">
                  <c:v>2005</c:v>
                </c:pt>
                <c:pt idx="16">
                  <c:v>2006</c:v>
                </c:pt>
                <c:pt idx="17">
                  <c:v>2007</c:v>
                </c:pt>
                <c:pt idx="18">
                  <c:v>2008</c:v>
                </c:pt>
                <c:pt idx="19">
                  <c:v>2009</c:v>
                </c:pt>
                <c:pt idx="20">
                  <c:v>2010</c:v>
                </c:pt>
                <c:pt idx="21">
                  <c:v>2011</c:v>
                </c:pt>
                <c:pt idx="22">
                  <c:v>2012</c:v>
                </c:pt>
                <c:pt idx="23">
                  <c:v>2013</c:v>
                </c:pt>
                <c:pt idx="24">
                  <c:v>2014</c:v>
                </c:pt>
                <c:pt idx="25">
                  <c:v>2015</c:v>
                </c:pt>
                <c:pt idx="26">
                  <c:v>2016</c:v>
                </c:pt>
                <c:pt idx="27">
                  <c:v>2017</c:v>
                </c:pt>
                <c:pt idx="28">
                  <c:v>2018</c:v>
                </c:pt>
                <c:pt idx="29">
                  <c:v>2019</c:v>
                </c:pt>
                <c:pt idx="30">
                  <c:v>2020</c:v>
                </c:pt>
                <c:pt idx="31">
                  <c:v>2021</c:v>
                </c:pt>
                <c:pt idx="32">
                  <c:v>2022</c:v>
                </c:pt>
                <c:pt idx="33">
                  <c:v>2023</c:v>
                </c:pt>
              </c:numCache>
            </c:numRef>
          </c:xVal>
          <c:yVal>
            <c:numRef>
              <c:f>[PRD_排放源变化比例.xlsx]SO2_NH3_NOx比例!$G$2:$G$35</c:f>
              <c:numCache>
                <c:formatCode>General</c:formatCode>
                <c:ptCount val="34"/>
                <c:pt idx="0">
                  <c:v>0.622688941038836</c:v>
                </c:pt>
                <c:pt idx="1">
                  <c:v>0.636234260633876</c:v>
                </c:pt>
                <c:pt idx="2">
                  <c:v>0.655214694281866</c:v>
                </c:pt>
                <c:pt idx="3">
                  <c:v>0.706175137810527</c:v>
                </c:pt>
                <c:pt idx="4">
                  <c:v>0.696726196474277</c:v>
                </c:pt>
                <c:pt idx="5">
                  <c:v>0.727732715243584</c:v>
                </c:pt>
                <c:pt idx="6">
                  <c:v>0.74974006909416</c:v>
                </c:pt>
                <c:pt idx="7">
                  <c:v>0.759943199537613</c:v>
                </c:pt>
                <c:pt idx="8">
                  <c:v>0.758791128881934</c:v>
                </c:pt>
                <c:pt idx="9">
                  <c:v>0.774174649373157</c:v>
                </c:pt>
                <c:pt idx="10">
                  <c:v>0.793073319386679</c:v>
                </c:pt>
                <c:pt idx="11">
                  <c:v>0.792244467053183</c:v>
                </c:pt>
                <c:pt idx="12">
                  <c:v>0.812852151851858</c:v>
                </c:pt>
                <c:pt idx="13">
                  <c:v>0.819374675280581</c:v>
                </c:pt>
                <c:pt idx="14">
                  <c:v>0.849795795891488</c:v>
                </c:pt>
                <c:pt idx="15">
                  <c:v>0.865659412373227</c:v>
                </c:pt>
                <c:pt idx="16">
                  <c:v>0.867750599509069</c:v>
                </c:pt>
                <c:pt idx="17">
                  <c:v>0.870349491387989</c:v>
                </c:pt>
                <c:pt idx="18">
                  <c:v>0.867443034162444</c:v>
                </c:pt>
                <c:pt idx="19">
                  <c:v>0.867046721687356</c:v>
                </c:pt>
                <c:pt idx="20">
                  <c:v>0.875843953485909</c:v>
                </c:pt>
                <c:pt idx="21">
                  <c:v>0.874697206052074</c:v>
                </c:pt>
                <c:pt idx="22">
                  <c:v>0.885423824730183</c:v>
                </c:pt>
                <c:pt idx="23">
                  <c:v>0.877153109735903</c:v>
                </c:pt>
                <c:pt idx="24">
                  <c:v>0.861200005182488</c:v>
                </c:pt>
                <c:pt idx="25">
                  <c:v>0.858952017153148</c:v>
                </c:pt>
                <c:pt idx="26">
                  <c:v>0.850008153250041</c:v>
                </c:pt>
                <c:pt idx="27">
                  <c:v>0.844299908159978</c:v>
                </c:pt>
                <c:pt idx="28">
                  <c:v>0.855324633219753</c:v>
                </c:pt>
                <c:pt idx="29">
                  <c:v>0.860220251932004</c:v>
                </c:pt>
                <c:pt idx="30">
                  <c:v>0.850061826593771</c:v>
                </c:pt>
                <c:pt idx="31">
                  <c:v>0.850725391694457</c:v>
                </c:pt>
                <c:pt idx="32">
                  <c:v>0.844024434089542</c:v>
                </c:pt>
                <c:pt idx="33">
                  <c:v>0.85742786474306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35537168"/>
        <c:axId val="2035537648"/>
      </c:scatterChart>
      <c:valAx>
        <c:axId val="203553716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035537648"/>
        <c:crosses val="autoZero"/>
        <c:crossBetween val="midCat"/>
      </c:valAx>
      <c:valAx>
        <c:axId val="20355376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03553716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4862" cy="35642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66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797066" y="0"/>
            <a:ext cx="4434862" cy="35642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66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747325"/>
            <a:ext cx="4434862" cy="3564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66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797066" y="6747325"/>
            <a:ext cx="4434862" cy="3564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66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4679" cy="3559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797788" y="0"/>
            <a:ext cx="4434677" cy="3559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87440" y="888133"/>
            <a:ext cx="4262159" cy="239774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024619" y="3419204"/>
            <a:ext cx="8187802" cy="279662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748051"/>
            <a:ext cx="4434679" cy="35591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797788" y="6748051"/>
            <a:ext cx="4434677" cy="35591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000" dirty="0"/>
              <a:t>Good morning/afternoon, committee members. Today I will present my doctoral dissertation proposal defense on atmospheric reactive nitrogen in the Pearl River Delta. This work addresses a critical transition in regional air quality: the shift from sulfur-dominated to nit</a:t>
            </a:r>
            <a:r>
              <a:rPr lang="en-US" altLang="zh-CN" sz="800" dirty="0"/>
              <a:t>rogen-dom</a:t>
            </a:r>
            <a:r>
              <a:rPr lang="en-US" altLang="zh-CN" sz="1000" dirty="0"/>
              <a:t>inated particulate pollution, and the emerging role of ammonia as a control variable for both PM₂.₅ and ozone.”</a:t>
            </a:r>
            <a:endParaRPr lang="zh-CN" altLang="en-US" sz="10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035300" y="793750"/>
            <a:ext cx="3808413" cy="21415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endParaRPr lang="zh-CN" altLang="zh-CN" sz="1800" dirty="0">
              <a:effectLst/>
              <a:latin typeface="宋体" pitchFamily="2" charset="-122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DA712A-FD8E-4D24-A708-D217C50E192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（看图说话）</a:t>
            </a:r>
            <a:endParaRPr lang="en-US" altLang="zh-CN"/>
          </a:p>
          <a:p>
            <a:r>
              <a:rPr lang="en-US" altLang="zh-CN"/>
              <a:t>SO2</a:t>
            </a:r>
            <a:r>
              <a:rPr lang="zh-CN" altLang="en-US"/>
              <a:t>大幅度减排，但冬季雾霾依旧增加</a:t>
            </a:r>
            <a:r>
              <a:rPr lang="en-US" altLang="zh-CN"/>
              <a:t>-</a:t>
            </a:r>
            <a:r>
              <a:rPr lang="zh-CN" altLang="en-US"/>
              <a:t>》硝酸盐和二次污染物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The PRD is not the NCP moved south. As this comparison shows, the PRD’s subtropical, high-humidity environment favors rapid photochemistry, sea-salt interactions, and distinct seasonal cycles. The O₃ paradox here is acute: we cut NOₓ, but O₃ rose because titration was weakened. This tells us that PRD findings cannot be directly transplanted from northern China.</a:t>
            </a:r>
            <a:endParaRPr lang="en-US" altLang="zh-CN" dirty="0"/>
          </a:p>
          <a:p>
            <a:r>
              <a:rPr lang="zh-CN" altLang="en-US">
                <a:sym typeface="+mn-ea"/>
              </a:rPr>
              <a:t>总的氮沉降升高，氨浓度过剩；</a:t>
            </a:r>
            <a:r>
              <a:rPr lang="en-US" altLang="zh-CN">
                <a:sym typeface="+mn-ea"/>
              </a:rPr>
              <a:t>NO2</a:t>
            </a:r>
            <a:r>
              <a:rPr lang="zh-CN" altLang="en-US">
                <a:sym typeface="+mn-ea"/>
              </a:rPr>
              <a:t>下降，但是</a:t>
            </a:r>
            <a:r>
              <a:rPr lang="en-US" altLang="zh-CN">
                <a:sym typeface="+mn-ea"/>
              </a:rPr>
              <a:t>O3</a:t>
            </a:r>
            <a:r>
              <a:rPr lang="zh-CN" altLang="en-US">
                <a:sym typeface="+mn-ea"/>
              </a:rPr>
              <a:t>升高</a:t>
            </a:r>
            <a:endParaRPr lang="zh-CN" altLang="en-US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87675" y="887413"/>
            <a:ext cx="4262438" cy="23987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data gap: we lack long-term NH₃ constraints in the PRD. Second, a mechanism gap: we do not know how the rising NH₃-to-acid ratio thermodynamically forces nitrate formation in this humid subtropical regime. Third, a policy-relevant gap: we cannot yet predict how NH₃ will modulate the nonlinear response of O₃ to NOₓ and VOCs reductions.</a:t>
            </a:r>
            <a:endParaRPr lang="en-US" altLang="zh-CN" dirty="0"/>
          </a:p>
          <a:p>
            <a:r>
              <a:rPr lang="en-US" altLang="zh-CN" dirty="0"/>
              <a:t>for the lack of response of nitrate to NOx emission controls in winter, including the increase of nitrate during winter haze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录屏</a:t>
            </a:r>
            <a:r>
              <a:rPr lang="en-US" altLang="zh-CN"/>
              <a:t>30:00</a:t>
            </a:r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Grouped by land-use type, the annual average dry deposition (1.9–16.6 kg N ha</a:t>
            </a:r>
            <a:r>
              <a:rPr lang="en-US" altLang="zh-CN" b="0" i="0" baseline="30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−1</a:t>
            </a:r>
            <a:r>
              <a:rPr lang="en-US" altLang="zh-CN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 yr</a:t>
            </a:r>
            <a:r>
              <a:rPr lang="en-US" altLang="zh-CN" b="0" i="0" baseline="30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−1</a:t>
            </a:r>
            <a:r>
              <a:rPr lang="en-US" altLang="zh-CN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 for NH</a:t>
            </a:r>
            <a:r>
              <a:rPr lang="en-US" altLang="zh-CN" b="0" i="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3</a:t>
            </a:r>
            <a:r>
              <a:rPr lang="en-US" altLang="zh-CN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, 0.2–16.0 kg N ha</a:t>
            </a:r>
            <a:r>
              <a:rPr lang="en-US" altLang="zh-CN" b="0" i="0" baseline="30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−1</a:t>
            </a:r>
            <a:r>
              <a:rPr lang="en-US" altLang="zh-CN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 yr</a:t>
            </a:r>
            <a:r>
              <a:rPr lang="en-US" altLang="zh-CN" b="0" i="0" baseline="30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−1</a:t>
            </a:r>
            <a:r>
              <a:rPr lang="en-US" altLang="zh-CN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 for HNO</a:t>
            </a:r>
            <a:r>
              <a:rPr lang="en-US" altLang="zh-CN" b="0" i="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3</a:t>
            </a:r>
            <a:r>
              <a:rPr lang="en-US" altLang="zh-CN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, 0.2–9.5 kg N ha</a:t>
            </a:r>
            <a:r>
              <a:rPr lang="en-US" altLang="zh-CN" b="0" i="0" baseline="30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−1</a:t>
            </a:r>
            <a:r>
              <a:rPr lang="en-US" altLang="zh-CN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 yr</a:t>
            </a:r>
            <a:r>
              <a:rPr lang="en-US" altLang="zh-CN" b="0" i="0" baseline="30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−1</a:t>
            </a:r>
            <a:r>
              <a:rPr lang="en-US" altLang="zh-CN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 for NO</a:t>
            </a:r>
            <a:r>
              <a:rPr lang="en-US" altLang="zh-CN" b="0" i="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2</a:t>
            </a:r>
            <a:r>
              <a:rPr lang="en-US" altLang="zh-CN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, 0.1–11.8 kg N ha</a:t>
            </a:r>
            <a:r>
              <a:rPr lang="en-US" altLang="zh-CN" b="0" i="0" baseline="30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−1</a:t>
            </a:r>
            <a:r>
              <a:rPr lang="en-US" altLang="zh-CN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 yr</a:t>
            </a:r>
            <a:r>
              <a:rPr lang="en-US" altLang="zh-CN" b="0" i="0" baseline="30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−1</a:t>
            </a:r>
            <a:r>
              <a:rPr lang="en-US" altLang="zh-CN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 for particulate NH</a:t>
            </a:r>
            <a:r>
              <a:rPr lang="en-US" altLang="zh-CN" b="0" i="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4</a:t>
            </a:r>
            <a:r>
              <a:rPr lang="en-US" altLang="zh-CN" b="0" i="0" baseline="30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+</a:t>
            </a:r>
            <a:r>
              <a:rPr lang="en-US" altLang="zh-CN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, and 0.2–4.1 kg N ha</a:t>
            </a:r>
            <a:r>
              <a:rPr lang="en-US" altLang="zh-CN" b="0" i="0" baseline="30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−1</a:t>
            </a:r>
            <a:r>
              <a:rPr lang="en-US" altLang="zh-CN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 yr</a:t>
            </a:r>
            <a:r>
              <a:rPr lang="en-US" altLang="zh-CN" b="0" i="0" baseline="30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−1</a:t>
            </a:r>
            <a:r>
              <a:rPr lang="en-US" altLang="zh-CN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 for particulate NO</a:t>
            </a:r>
            <a:r>
              <a:rPr lang="en-US" altLang="zh-CN" b="0" i="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3</a:t>
            </a:r>
            <a:r>
              <a:rPr lang="en-US" altLang="zh-CN" b="0" i="0" baseline="30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−</a:t>
            </a:r>
            <a:r>
              <a:rPr lang="en-US" altLang="zh-CN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) and bulk deposition (2.7–18.9 kg N ha</a:t>
            </a:r>
            <a:r>
              <a:rPr lang="en-US" altLang="zh-CN" b="0" i="0" baseline="30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−1</a:t>
            </a:r>
            <a:r>
              <a:rPr lang="en-US" altLang="zh-CN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 yr</a:t>
            </a:r>
            <a:r>
              <a:rPr lang="en-US" altLang="zh-CN" b="0" i="0" baseline="30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−1</a:t>
            </a:r>
            <a:r>
              <a:rPr lang="en-US" altLang="zh-CN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 for NH</a:t>
            </a:r>
            <a:r>
              <a:rPr lang="en-US" altLang="zh-CN" b="0" i="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4</a:t>
            </a:r>
            <a:r>
              <a:rPr lang="en-US" altLang="zh-CN" b="0" i="0" baseline="30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+</a:t>
            </a:r>
            <a:r>
              <a:rPr lang="en-US" altLang="zh-CN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-N, and 1.5–17.4 kg N ha</a:t>
            </a:r>
            <a:r>
              <a:rPr lang="en-US" altLang="zh-CN" b="0" i="0" baseline="30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−1</a:t>
            </a:r>
            <a:r>
              <a:rPr lang="en-US" altLang="zh-CN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 yr</a:t>
            </a:r>
            <a:r>
              <a:rPr lang="en-US" altLang="zh-CN" b="0" i="0" baseline="30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−1</a:t>
            </a:r>
            <a:r>
              <a:rPr lang="en-US" altLang="zh-CN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 for NO</a:t>
            </a:r>
            <a:r>
              <a:rPr lang="en-US" altLang="zh-CN" b="0" i="0" baseline="-25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3</a:t>
            </a:r>
            <a:r>
              <a:rPr lang="en-US" altLang="zh-CN" b="0" i="0" baseline="300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−</a:t>
            </a:r>
            <a:r>
              <a:rPr lang="en-US" altLang="zh-CN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-N) </a:t>
            </a:r>
            <a:endParaRPr lang="en-US" altLang="zh-CN" b="0" i="0" dirty="0">
              <a:solidFill>
                <a:srgbClr val="222222"/>
              </a:solidFill>
              <a:effectLst/>
              <a:highlight>
                <a:srgbClr val="FFFFFF"/>
              </a:highlight>
              <a:latin typeface="-apple-system"/>
            </a:endParaRPr>
          </a:p>
          <a:p>
            <a:r>
              <a:rPr kumimoji="1" lang="en-US" altLang="zh-CN" b="1" dirty="0">
                <a:solidFill>
                  <a:srgbClr val="7030A0"/>
                </a:solidFill>
                <a:highlight>
                  <a:srgbClr val="FFFFFF"/>
                </a:highlight>
                <a:sym typeface="+mn-ea"/>
              </a:rPr>
              <a:t>59 monitoring sites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6B40C9-A5BA-E849-ACC6-608C139FCF1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47779-DBD5-634E-A57D-9CF6CA453AC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Emission intensity is not identical to ambient concentration because of secondary formation, but the spatial pattern shows where primary control measures have been most effective.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右图（区域）：</a:t>
            </a:r>
            <a:r>
              <a:rPr lang="en-US" altLang="zh-CN" dirty="0">
                <a:sym typeface="+mn-ea"/>
              </a:rPr>
              <a:t>The reduced-to-oxidized nitrogen ratio increased; the regional Nr structure shifted from NOₓ-dominance toward enhanced NH₃ importance.</a:t>
            </a:r>
            <a:endParaRPr lang="en-US" altLang="zh-CN" dirty="0">
              <a:sym typeface="+mn-ea"/>
            </a:endParaRPr>
          </a:p>
          <a:p>
            <a:r>
              <a:rPr lang="en-US" altLang="zh-CN" dirty="0">
                <a:sym typeface="+mn-ea"/>
              </a:rPr>
              <a:t>Spatial evolution: from 1990s point-source dominance → 2010 urban-area diffusion → 2022 significantly reduced overall intensity. However, the Guangzhou–Foshan and Shenzhen–Dongguan metropolitan belts remain emission hotspots.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录屏</a:t>
            </a:r>
            <a:r>
              <a:rPr lang="en-US" altLang="zh-CN"/>
              <a:t>2:3:05</a:t>
            </a:r>
            <a:endParaRPr lang="en-US" altLang="zh-CN"/>
          </a:p>
          <a:p>
            <a:r>
              <a:rPr lang="zh-CN" altLang="en-US"/>
              <a:t>研究一下这四句画，变成自己的</a:t>
            </a:r>
            <a:r>
              <a:rPr lang="zh-CN" altLang="en-US"/>
              <a:t>话说出来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录频</a:t>
            </a:r>
            <a:r>
              <a:rPr kumimoji="1" lang="en-US" altLang="zh-CN" dirty="0"/>
              <a:t>2:5:00</a:t>
            </a:r>
            <a:endParaRPr kumimoji="1" lang="zh-CN" altLang="en-US" dirty="0"/>
          </a:p>
          <a:p>
            <a:r>
              <a:rPr kumimoji="1" lang="zh-CN" altLang="en-US" dirty="0"/>
              <a:t>为了揭示</a:t>
            </a:r>
            <a:r>
              <a:rPr kumimoji="1" lang="en-US" altLang="zh-CN" dirty="0"/>
              <a:t>PRD PM2.5</a:t>
            </a:r>
            <a:r>
              <a:rPr kumimoji="1" lang="zh-CN" altLang="en-US" dirty="0"/>
              <a:t>及其组分的变化，首先利用在广州、</a:t>
            </a:r>
            <a:r>
              <a:rPr kumimoji="1" lang="en-US" altLang="zh-CN" dirty="0"/>
              <a:t>NH</a:t>
            </a:r>
            <a:r>
              <a:rPr kumimoji="1" lang="zh-CN" altLang="en-US" dirty="0"/>
              <a:t>，</a:t>
            </a:r>
            <a:r>
              <a:rPr kumimoji="1" lang="en-US" altLang="zh-CN" dirty="0"/>
              <a:t>NS</a:t>
            </a:r>
            <a:r>
              <a:rPr kumimoji="1" lang="zh-CN" altLang="en-US" dirty="0"/>
              <a:t>， </a:t>
            </a:r>
            <a:r>
              <a:rPr kumimoji="1" lang="en-US" altLang="zh-CN" dirty="0"/>
              <a:t>DG</a:t>
            </a:r>
            <a:r>
              <a:rPr kumimoji="1" lang="zh-CN" altLang="en-US" dirty="0"/>
              <a:t>的观测数据，诊断了</a:t>
            </a:r>
            <a:r>
              <a:rPr kumimoji="1" lang="en-US" altLang="zh-CN" dirty="0"/>
              <a:t>2007-2017</a:t>
            </a:r>
            <a:r>
              <a:rPr kumimoji="1" lang="zh-CN" altLang="en-US" dirty="0"/>
              <a:t>年</a:t>
            </a:r>
            <a:r>
              <a:rPr kumimoji="1" lang="en-US" altLang="zh-CN" dirty="0"/>
              <a:t>PM2.5</a:t>
            </a:r>
            <a:r>
              <a:rPr kumimoji="1" lang="zh-CN" altLang="en-US" dirty="0"/>
              <a:t>的变化特征，及其组分变化。</a:t>
            </a:r>
            <a:endParaRPr kumimoji="1" lang="zh-CN" altLang="en-US" dirty="0"/>
          </a:p>
          <a:p>
            <a:r>
              <a:rPr kumimoji="1" lang="zh-CN" altLang="en-US" dirty="0"/>
              <a:t>【把重要结果讲出来】季节变化，硫和硝季节的</a:t>
            </a:r>
            <a:r>
              <a:rPr kumimoji="1" lang="zh-CN" altLang="en-US" dirty="0"/>
              <a:t>占比</a:t>
            </a:r>
            <a:endParaRPr kumimoji="1" lang="zh-CN" altLang="en-US" dirty="0"/>
          </a:p>
          <a:p>
            <a:r>
              <a:rPr kumimoji="1" lang="zh-CN" altLang="en-US" dirty="0"/>
              <a:t>所有站点</a:t>
            </a:r>
            <a:r>
              <a:rPr kumimoji="1" lang="en-US" altLang="zh-CN" dirty="0"/>
              <a:t>PM2.5</a:t>
            </a:r>
            <a:r>
              <a:rPr kumimoji="1" lang="zh-CN" altLang="en-US" dirty="0"/>
              <a:t>浓度在下降，而且有明显</a:t>
            </a:r>
            <a:r>
              <a:rPr kumimoji="1" lang="zh-CN" altLang="en-US" dirty="0"/>
              <a:t>季节变化</a:t>
            </a:r>
            <a:r>
              <a:rPr kumimoji="1" lang="zh-CN" altLang="en-US" dirty="0"/>
              <a:t>特征</a:t>
            </a:r>
            <a:endParaRPr kumimoji="1" lang="zh-CN" altLang="en-US" dirty="0"/>
          </a:p>
          <a:p>
            <a:r>
              <a:rPr kumimoji="1" lang="zh-CN" altLang="en-US" dirty="0"/>
              <a:t>工业区的浓度比其他地区</a:t>
            </a:r>
            <a:r>
              <a:rPr kumimoji="1" lang="zh-CN" altLang="en-US" dirty="0"/>
              <a:t>高</a:t>
            </a:r>
            <a:endParaRPr kumimoji="1" lang="zh-CN" altLang="en-US" dirty="0"/>
          </a:p>
          <a:p>
            <a:r>
              <a:rPr kumimoji="1" lang="zh-CN" altLang="en-US" dirty="0"/>
              <a:t>氨、硝酸、硫酸都在</a:t>
            </a:r>
            <a:r>
              <a:rPr kumimoji="1" lang="zh-CN" altLang="en-US" dirty="0"/>
              <a:t>下降</a:t>
            </a:r>
            <a:endParaRPr kumimoji="1" lang="zh-CN" altLang="en-US" dirty="0"/>
          </a:p>
          <a:p>
            <a:r>
              <a:rPr kumimoji="1" lang="en-US" altLang="zh-CN" dirty="0"/>
              <a:t>SNA</a:t>
            </a:r>
            <a:r>
              <a:rPr kumimoji="1" lang="zh-CN" altLang="en-US" dirty="0"/>
              <a:t>是</a:t>
            </a:r>
            <a:r>
              <a:rPr kumimoji="1" lang="en-US" altLang="zh-CN" dirty="0"/>
              <a:t>PM2.5</a:t>
            </a:r>
            <a:r>
              <a:rPr kumimoji="1" lang="zh-CN" altLang="en-US" dirty="0"/>
              <a:t>主要贡献，《</a:t>
            </a:r>
            <a:r>
              <a:rPr kumimoji="1" lang="en-US" altLang="zh-CN" dirty="0"/>
              <a:t>-</a:t>
            </a:r>
            <a:r>
              <a:rPr kumimoji="1" lang="zh-CN" altLang="en-US" dirty="0"/>
              <a:t>解决</a:t>
            </a:r>
            <a:r>
              <a:rPr kumimoji="1" lang="en-US" altLang="zh-CN" dirty="0"/>
              <a:t>SNA</a:t>
            </a:r>
            <a:r>
              <a:rPr kumimoji="1" lang="zh-CN" altLang="en-US" dirty="0"/>
              <a:t>可以解决</a:t>
            </a:r>
            <a:r>
              <a:rPr kumimoji="1" lang="en-US" altLang="zh-CN" dirty="0"/>
              <a:t>PM2.5</a:t>
            </a:r>
            <a:endParaRPr kumimoji="1" lang="en-US" altLang="zh-CN" dirty="0"/>
          </a:p>
          <a:p>
            <a:r>
              <a:rPr kumimoji="1" lang="zh-CN" altLang="en-US" dirty="0"/>
              <a:t>硫酸在夏天占比比较高，硫酸和硝酸的占比的季节变化</a:t>
            </a:r>
            <a:r>
              <a:rPr kumimoji="1" lang="zh-CN" altLang="en-US" dirty="0"/>
              <a:t>相反</a:t>
            </a:r>
            <a:endParaRPr kumimoji="1" lang="zh-CN" altLang="en-US" dirty="0"/>
          </a:p>
          <a:p>
            <a:r>
              <a:rPr kumimoji="1" lang="en-US" altLang="zh-CN" dirty="0"/>
              <a:t>SIA</a:t>
            </a:r>
            <a:r>
              <a:rPr kumimoji="1" lang="zh-CN" altLang="en-US" dirty="0"/>
              <a:t>越来越重要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B047779-DBD5-634E-A57D-9CF6CA453AC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录屏</a:t>
            </a:r>
            <a:r>
              <a:rPr lang="en-US" altLang="zh-CN" dirty="0"/>
              <a:t>2:13:30</a:t>
            </a:r>
            <a:endParaRPr lang="en-US" altLang="zh-CN" dirty="0"/>
          </a:p>
          <a:p>
            <a:r>
              <a:rPr lang="zh-CN" altLang="en-US" dirty="0"/>
              <a:t>还原氮和氧化氮的比值</a:t>
            </a:r>
            <a:endParaRPr lang="zh-CN" altLang="en-US" dirty="0"/>
          </a:p>
          <a:p>
            <a:r>
              <a:rPr lang="zh-CN" altLang="en-US" dirty="0"/>
              <a:t>在硫酸盐大幅度降低的背景下，活性氮在</a:t>
            </a:r>
            <a:r>
              <a:rPr lang="en-US" altLang="zh-CN" dirty="0"/>
              <a:t>PM2.5</a:t>
            </a:r>
            <a:r>
              <a:rPr lang="zh-CN" altLang="en-US" dirty="0"/>
              <a:t>的</a:t>
            </a:r>
            <a:r>
              <a:rPr lang="en-US" altLang="zh-CN" dirty="0"/>
              <a:t>SIA</a:t>
            </a:r>
            <a:r>
              <a:rPr lang="zh-CN" altLang="en-US" dirty="0"/>
              <a:t>形成中角色越来越重要。为进一步探讨</a:t>
            </a:r>
            <a:r>
              <a:rPr lang="en-US" altLang="zh-CN" dirty="0"/>
              <a:t>Nr</a:t>
            </a:r>
            <a:r>
              <a:rPr lang="zh-CN" altLang="en-US" dirty="0"/>
              <a:t>在</a:t>
            </a:r>
            <a:r>
              <a:rPr lang="en-US" altLang="zh-CN" dirty="0"/>
              <a:t>PRD PM2.5</a:t>
            </a:r>
            <a:r>
              <a:rPr lang="zh-CN" altLang="en-US" dirty="0"/>
              <a:t>中的作用，利用</a:t>
            </a:r>
            <a:r>
              <a:rPr lang="en-US" altLang="zh-CN" dirty="0"/>
              <a:t>NNDMN</a:t>
            </a:r>
            <a:r>
              <a:rPr lang="zh-CN" altLang="en-US" dirty="0"/>
              <a:t>观测数据，发现在</a:t>
            </a:r>
            <a:r>
              <a:rPr lang="en-US" altLang="zh-CN" dirty="0"/>
              <a:t>2010-2020</a:t>
            </a:r>
            <a:r>
              <a:rPr lang="zh-CN" altLang="en-US" dirty="0"/>
              <a:t>年期间，氧化态氮在显著降低，而还原态氮在增加。还原态氮的增加，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MachineLearning</a:t>
            </a:r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新的环境标准法</a:t>
            </a:r>
            <a:endParaRPr lang="zh-CN" altLang="en-US"/>
          </a:p>
          <a:p>
            <a:r>
              <a:rPr lang="zh-CN" altLang="en-US"/>
              <a:t>研究重点：新法要求下，需要加大对活性氮、</a:t>
            </a:r>
            <a:r>
              <a:rPr lang="en-US" altLang="zh-CN"/>
              <a:t>PM2.5</a:t>
            </a:r>
            <a:r>
              <a:rPr lang="zh-CN" altLang="en-US"/>
              <a:t>的研究</a:t>
            </a:r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 conclude, my dissertation will close the loop from emissions to chemistry to deposition to policy. The expected deliverable is not merely a set of papers, but a quantitative roadmap for PRD air quality management—one that explicitly treats reactive nitrogen as the shared currency of PM₂.₅ and O₃ pollution</a:t>
            </a:r>
            <a:endParaRPr lang="en-US" altLang="zh-CN" dirty="0"/>
          </a:p>
          <a:p>
            <a:r>
              <a:rPr lang="en-US" altLang="zh-CN" dirty="0"/>
              <a:t>sensitivity</a:t>
            </a:r>
            <a:r>
              <a:rPr lang="en-US" altLang="zh-CN" dirty="0"/>
              <a:t>Test</a:t>
            </a:r>
            <a:endParaRPr lang="en-US" altLang="zh-CN" dirty="0"/>
          </a:p>
          <a:p>
            <a:r>
              <a:rPr lang="zh-CN" altLang="en-US" dirty="0"/>
              <a:t>逻辑理顺</a:t>
            </a:r>
            <a:endParaRPr lang="zh-CN" altLang="en-US" dirty="0"/>
          </a:p>
          <a:p>
            <a:r>
              <a:rPr lang="zh-CN" altLang="en-US" dirty="0"/>
              <a:t>讲故事：讲背景，为什么研究活性氮？（活性氮很重要，对</a:t>
            </a:r>
            <a:r>
              <a:rPr lang="en-US" altLang="zh-CN" dirty="0"/>
              <a:t>XXXX</a:t>
            </a:r>
            <a:r>
              <a:rPr lang="zh-CN" altLang="en-US" dirty="0"/>
              <a:t>有影响）</a:t>
            </a:r>
            <a:endParaRPr lang="zh-CN" altLang="en-US" dirty="0"/>
          </a:p>
          <a:p>
            <a:r>
              <a:rPr lang="zh-CN" altLang="en-US" dirty="0"/>
              <a:t>在别人的基础上介绍，别人都研究了什么</a:t>
            </a:r>
            <a:endParaRPr lang="zh-CN" altLang="en-US" dirty="0"/>
          </a:p>
          <a:p>
            <a:r>
              <a:rPr lang="zh-CN" altLang="en-US" dirty="0"/>
              <a:t>在前人研究的基础上，还有哪些没结果，</a:t>
            </a:r>
            <a:r>
              <a:rPr lang="en-US" altLang="zh-CN" dirty="0"/>
              <a:t>gap</a:t>
            </a:r>
            <a:r>
              <a:rPr lang="zh-CN" altLang="en-US" dirty="0"/>
              <a:t>在哪里</a:t>
            </a:r>
            <a:endParaRPr lang="zh-CN" altLang="en-US" dirty="0"/>
          </a:p>
          <a:p>
            <a:r>
              <a:rPr lang="zh-CN" altLang="en-US" dirty="0"/>
              <a:t>研究目标是什么？</a:t>
            </a:r>
            <a:r>
              <a:rPr lang="en-US" altLang="zh-CN" dirty="0"/>
              <a:t>research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dirty="0"/>
              <a:t>Objective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把模拟的</a:t>
            </a:r>
            <a:r>
              <a:rPr lang="en-US" altLang="zh-CN" dirty="0"/>
              <a:t>pm</a:t>
            </a:r>
            <a:r>
              <a:rPr lang="zh-CN" altLang="en-US" dirty="0"/>
              <a:t>变化和观测放一起</a:t>
            </a:r>
            <a:endParaRPr lang="zh-CN" altLang="en-US" dirty="0"/>
          </a:p>
          <a:p>
            <a:r>
              <a:rPr lang="zh-CN" altLang="en-US" dirty="0"/>
              <a:t>新的排放清单下</a:t>
            </a:r>
            <a:endParaRPr lang="zh-CN" altLang="en-US" dirty="0"/>
          </a:p>
          <a:p>
            <a:r>
              <a:rPr lang="zh-CN" altLang="en-US" dirty="0"/>
              <a:t>在新环境，（氨增强的情况下），怎么管理大湾区的活性氮</a:t>
            </a:r>
            <a:endParaRPr lang="zh-CN" altLang="en-US" dirty="0"/>
          </a:p>
          <a:p>
            <a:r>
              <a:rPr lang="zh-CN" altLang="en-US" dirty="0"/>
              <a:t>在哪种排放情景下，可以达成最佳的治理效果（</a:t>
            </a:r>
            <a:r>
              <a:rPr lang="en-US" altLang="zh-CN" dirty="0"/>
              <a:t>pm</a:t>
            </a:r>
            <a:r>
              <a:rPr lang="zh-CN" altLang="en-US" dirty="0"/>
              <a:t>和</a:t>
            </a:r>
            <a:r>
              <a:rPr lang="en-US" altLang="zh-CN" dirty="0"/>
              <a:t>O3</a:t>
            </a:r>
            <a:r>
              <a:rPr lang="zh-CN" altLang="en-US" dirty="0"/>
              <a:t>都是最优）</a:t>
            </a:r>
            <a:endParaRPr lang="zh-CN" altLang="en-US" dirty="0"/>
          </a:p>
          <a:p>
            <a:r>
              <a:rPr lang="zh-CN" altLang="en-US" dirty="0"/>
              <a:t>会有哪些结果，预期的目标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These ratios are the chemical compass of my study. The transition from an acid-limited to an ammonia-rich regime means that thermodynamics increasingly favor particulate nitrate whenever HNO₃ is available. The question is no longer whether we have enough ammonia, but how oxidized nitrogen and meteorology convert that ammonia into aerosol.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说一下空间变化特征</a:t>
            </a:r>
            <a:endParaRPr lang="zh-CN" altLang="en-US"/>
          </a:p>
          <a:p>
            <a:r>
              <a:rPr lang="zh-CN" altLang="en-US"/>
              <a:t>左上：</a:t>
            </a:r>
            <a:r>
              <a:rPr lang="en-US" altLang="zh-CN"/>
              <a:t>1990</a:t>
            </a:r>
            <a:r>
              <a:rPr lang="zh-CN" altLang="en-US"/>
              <a:t>较弱，</a:t>
            </a:r>
            <a:r>
              <a:rPr lang="en-US" altLang="zh-CN"/>
              <a:t>2010</a:t>
            </a:r>
            <a:r>
              <a:rPr lang="zh-CN" altLang="en-US"/>
              <a:t>迅速增加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氨的排放和空间分布不一致</a:t>
            </a:r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录屏</a:t>
            </a:r>
            <a:r>
              <a:rPr lang="en-US" altLang="zh-CN"/>
              <a:t>2:1:12</a:t>
            </a:r>
            <a:endParaRPr lang="en-US" altLang="zh-CN"/>
          </a:p>
          <a:p>
            <a:r>
              <a:rPr lang="zh-CN" altLang="en-US" b="1"/>
              <a:t>揣摩一下这几句话</a:t>
            </a:r>
            <a:endParaRPr lang="zh-CN" altLang="en-US" b="1"/>
          </a:p>
          <a:p>
            <a:r>
              <a:rPr lang="zh-CN" altLang="en-US"/>
              <a:t>（图有问题）左下：氨的排放没怎么变，</a:t>
            </a:r>
            <a:r>
              <a:rPr lang="en-US" altLang="zh-CN"/>
              <a:t>SO2</a:t>
            </a:r>
            <a:r>
              <a:rPr lang="zh-CN" altLang="en-US"/>
              <a:t>和</a:t>
            </a:r>
            <a:r>
              <a:rPr lang="en-US" altLang="zh-CN"/>
              <a:t>NOx</a:t>
            </a:r>
            <a:r>
              <a:rPr lang="zh-CN" altLang="en-US"/>
              <a:t>的排放变化相似</a:t>
            </a:r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全国，过渡到</a:t>
            </a:r>
            <a:r>
              <a:rPr lang="en-US" altLang="zh-CN"/>
              <a:t>PRD</a:t>
            </a:r>
            <a:r>
              <a:rPr lang="zh-CN" altLang="en-US"/>
              <a:t>，过渡到组分变化变化（</a:t>
            </a:r>
            <a:r>
              <a:rPr lang="en-US" altLang="zh-CN"/>
              <a:t>p25</a:t>
            </a:r>
            <a:r>
              <a:rPr lang="zh-CN" altLang="en-US"/>
              <a:t>）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25"/>
            <a:ext cx="10363200" cy="147002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1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43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64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00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36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165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0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036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465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85638-3015-4CF8-80D4-DC026B95D82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B669C-3DC1-4226-93AE-F4316AE5FB5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74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440">
                <a:solidFill>
                  <a:schemeClr val="tx1">
                    <a:tint val="75000"/>
                  </a:schemeClr>
                </a:solidFill>
              </a:defRPr>
            </a:lvl1pPr>
            <a:lvl2pPr marL="543560" indent="0">
              <a:buNone/>
              <a:defRPr sz="2165">
                <a:solidFill>
                  <a:schemeClr val="tx1">
                    <a:tint val="75000"/>
                  </a:schemeClr>
                </a:solidFill>
              </a:defRPr>
            </a:lvl2pPr>
            <a:lvl3pPr marL="1086485" indent="0">
              <a:buNone/>
              <a:defRPr sz="1895">
                <a:solidFill>
                  <a:schemeClr val="tx1">
                    <a:tint val="75000"/>
                  </a:schemeClr>
                </a:solidFill>
              </a:defRPr>
            </a:lvl3pPr>
            <a:lvl4pPr marL="163004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4pPr>
            <a:lvl5pPr marL="217360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5pPr>
            <a:lvl6pPr marL="2716530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6pPr>
            <a:lvl7pPr marL="3260090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7pPr>
            <a:lvl8pPr marL="3803650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8pPr>
            <a:lvl9pPr marL="43465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FFA75-5A24-47C2-8C45-139BC73C800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4"/>
          </a:xfrm>
        </p:spPr>
        <p:txBody>
          <a:bodyPr/>
          <a:lstStyle>
            <a:lvl1pPr>
              <a:defRPr sz="3385"/>
            </a:lvl1pPr>
            <a:lvl2pPr>
              <a:defRPr sz="2845"/>
            </a:lvl2pPr>
            <a:lvl3pPr>
              <a:defRPr sz="2440"/>
            </a:lvl3pPr>
            <a:lvl4pPr>
              <a:defRPr sz="2165"/>
            </a:lvl4pPr>
            <a:lvl5pPr>
              <a:defRPr sz="2165"/>
            </a:lvl5pPr>
            <a:lvl6pPr>
              <a:defRPr sz="2165"/>
            </a:lvl6pPr>
            <a:lvl7pPr>
              <a:defRPr sz="2165"/>
            </a:lvl7pPr>
            <a:lvl8pPr>
              <a:defRPr sz="2165"/>
            </a:lvl8pPr>
            <a:lvl9pPr>
              <a:defRPr sz="216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1" y="1600200"/>
            <a:ext cx="5384800" cy="4525964"/>
          </a:xfrm>
        </p:spPr>
        <p:txBody>
          <a:bodyPr/>
          <a:lstStyle>
            <a:lvl1pPr>
              <a:defRPr sz="3385"/>
            </a:lvl1pPr>
            <a:lvl2pPr>
              <a:defRPr sz="2845"/>
            </a:lvl2pPr>
            <a:lvl3pPr>
              <a:defRPr sz="2440"/>
            </a:lvl3pPr>
            <a:lvl4pPr>
              <a:defRPr sz="2165"/>
            </a:lvl4pPr>
            <a:lvl5pPr>
              <a:defRPr sz="2165"/>
            </a:lvl5pPr>
            <a:lvl6pPr>
              <a:defRPr sz="2165"/>
            </a:lvl6pPr>
            <a:lvl7pPr>
              <a:defRPr sz="2165"/>
            </a:lvl7pPr>
            <a:lvl8pPr>
              <a:defRPr sz="2165"/>
            </a:lvl8pPr>
            <a:lvl9pPr>
              <a:defRPr sz="216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ED4DA-D5FA-4F7C-9E88-0C87E68ED164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1"/>
          </a:xfrm>
        </p:spPr>
        <p:txBody>
          <a:bodyPr anchor="b"/>
          <a:lstStyle>
            <a:lvl1pPr marL="0" indent="0">
              <a:buNone/>
              <a:defRPr sz="2845" b="1"/>
            </a:lvl1pPr>
            <a:lvl2pPr marL="543560" indent="0">
              <a:buNone/>
              <a:defRPr sz="2440" b="1"/>
            </a:lvl2pPr>
            <a:lvl3pPr marL="1086485" indent="0">
              <a:buNone/>
              <a:defRPr sz="2165" b="1"/>
            </a:lvl3pPr>
            <a:lvl4pPr marL="1630045" indent="0">
              <a:buNone/>
              <a:defRPr sz="1895" b="1"/>
            </a:lvl4pPr>
            <a:lvl5pPr marL="2173605" indent="0">
              <a:buNone/>
              <a:defRPr sz="1895" b="1"/>
            </a:lvl5pPr>
            <a:lvl6pPr marL="2716530" indent="0">
              <a:buNone/>
              <a:defRPr sz="1895" b="1"/>
            </a:lvl6pPr>
            <a:lvl7pPr marL="3260090" indent="0">
              <a:buNone/>
              <a:defRPr sz="1895" b="1"/>
            </a:lvl7pPr>
            <a:lvl8pPr marL="3803650" indent="0">
              <a:buNone/>
              <a:defRPr sz="1895" b="1"/>
            </a:lvl8pPr>
            <a:lvl9pPr marL="4346575" indent="0">
              <a:buNone/>
              <a:defRPr sz="189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6"/>
            <a:ext cx="5386917" cy="3951288"/>
          </a:xfrm>
        </p:spPr>
        <p:txBody>
          <a:bodyPr/>
          <a:lstStyle>
            <a:lvl1pPr>
              <a:defRPr sz="2845"/>
            </a:lvl1pPr>
            <a:lvl2pPr>
              <a:defRPr sz="2440"/>
            </a:lvl2pPr>
            <a:lvl3pPr>
              <a:defRPr sz="2165"/>
            </a:lvl3pPr>
            <a:lvl4pPr>
              <a:defRPr sz="1895"/>
            </a:lvl4pPr>
            <a:lvl5pPr>
              <a:defRPr sz="1895"/>
            </a:lvl5pPr>
            <a:lvl6pPr>
              <a:defRPr sz="1895"/>
            </a:lvl6pPr>
            <a:lvl7pPr>
              <a:defRPr sz="1895"/>
            </a:lvl7pPr>
            <a:lvl8pPr>
              <a:defRPr sz="1895"/>
            </a:lvl8pPr>
            <a:lvl9pPr>
              <a:defRPr sz="189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4"/>
            <a:ext cx="5389033" cy="639761"/>
          </a:xfrm>
        </p:spPr>
        <p:txBody>
          <a:bodyPr anchor="b"/>
          <a:lstStyle>
            <a:lvl1pPr marL="0" indent="0">
              <a:buNone/>
              <a:defRPr sz="2845" b="1"/>
            </a:lvl1pPr>
            <a:lvl2pPr marL="543560" indent="0">
              <a:buNone/>
              <a:defRPr sz="2440" b="1"/>
            </a:lvl2pPr>
            <a:lvl3pPr marL="1086485" indent="0">
              <a:buNone/>
              <a:defRPr sz="2165" b="1"/>
            </a:lvl3pPr>
            <a:lvl4pPr marL="1630045" indent="0">
              <a:buNone/>
              <a:defRPr sz="1895" b="1"/>
            </a:lvl4pPr>
            <a:lvl5pPr marL="2173605" indent="0">
              <a:buNone/>
              <a:defRPr sz="1895" b="1"/>
            </a:lvl5pPr>
            <a:lvl6pPr marL="2716530" indent="0">
              <a:buNone/>
              <a:defRPr sz="1895" b="1"/>
            </a:lvl6pPr>
            <a:lvl7pPr marL="3260090" indent="0">
              <a:buNone/>
              <a:defRPr sz="1895" b="1"/>
            </a:lvl7pPr>
            <a:lvl8pPr marL="3803650" indent="0">
              <a:buNone/>
              <a:defRPr sz="1895" b="1"/>
            </a:lvl8pPr>
            <a:lvl9pPr marL="4346575" indent="0">
              <a:buNone/>
              <a:defRPr sz="189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6"/>
            <a:ext cx="5389033" cy="3951288"/>
          </a:xfrm>
        </p:spPr>
        <p:txBody>
          <a:bodyPr/>
          <a:lstStyle>
            <a:lvl1pPr>
              <a:defRPr sz="2845"/>
            </a:lvl1pPr>
            <a:lvl2pPr>
              <a:defRPr sz="2440"/>
            </a:lvl2pPr>
            <a:lvl3pPr>
              <a:defRPr sz="2165"/>
            </a:lvl3pPr>
            <a:lvl4pPr>
              <a:defRPr sz="1895"/>
            </a:lvl4pPr>
            <a:lvl5pPr>
              <a:defRPr sz="1895"/>
            </a:lvl5pPr>
            <a:lvl6pPr>
              <a:defRPr sz="1895"/>
            </a:lvl6pPr>
            <a:lvl7pPr>
              <a:defRPr sz="1895"/>
            </a:lvl7pPr>
            <a:lvl8pPr>
              <a:defRPr sz="1895"/>
            </a:lvl8pPr>
            <a:lvl9pPr>
              <a:defRPr sz="189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6D9F1-7BFC-44D8-88AD-C4A7D3AD7909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1"/>
          </a:xfrm>
        </p:spPr>
        <p:txBody>
          <a:bodyPr anchor="b"/>
          <a:lstStyle>
            <a:lvl1pPr marL="0" indent="0">
              <a:buNone/>
              <a:defRPr sz="2845" b="1"/>
            </a:lvl1pPr>
            <a:lvl2pPr marL="543560" indent="0">
              <a:buNone/>
              <a:defRPr sz="2440" b="1"/>
            </a:lvl2pPr>
            <a:lvl3pPr marL="1086485" indent="0">
              <a:buNone/>
              <a:defRPr sz="2165" b="1"/>
            </a:lvl3pPr>
            <a:lvl4pPr marL="1630045" indent="0">
              <a:buNone/>
              <a:defRPr sz="1895" b="1"/>
            </a:lvl4pPr>
            <a:lvl5pPr marL="2173605" indent="0">
              <a:buNone/>
              <a:defRPr sz="1895" b="1"/>
            </a:lvl5pPr>
            <a:lvl6pPr marL="2716530" indent="0">
              <a:buNone/>
              <a:defRPr sz="1895" b="1"/>
            </a:lvl6pPr>
            <a:lvl7pPr marL="3260090" indent="0">
              <a:buNone/>
              <a:defRPr sz="1895" b="1"/>
            </a:lvl7pPr>
            <a:lvl8pPr marL="3803650" indent="0">
              <a:buNone/>
              <a:defRPr sz="1895" b="1"/>
            </a:lvl8pPr>
            <a:lvl9pPr marL="4346575" indent="0">
              <a:buNone/>
              <a:defRPr sz="189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6"/>
            <a:ext cx="5386917" cy="3951288"/>
          </a:xfrm>
        </p:spPr>
        <p:txBody>
          <a:bodyPr/>
          <a:lstStyle>
            <a:lvl1pPr>
              <a:defRPr sz="2845"/>
            </a:lvl1pPr>
            <a:lvl2pPr>
              <a:defRPr sz="2440"/>
            </a:lvl2pPr>
            <a:lvl3pPr>
              <a:defRPr sz="2165"/>
            </a:lvl3pPr>
            <a:lvl4pPr>
              <a:defRPr sz="1895"/>
            </a:lvl4pPr>
            <a:lvl5pPr>
              <a:defRPr sz="1895"/>
            </a:lvl5pPr>
            <a:lvl6pPr>
              <a:defRPr sz="1895"/>
            </a:lvl6pPr>
            <a:lvl7pPr>
              <a:defRPr sz="1895"/>
            </a:lvl7pPr>
            <a:lvl8pPr>
              <a:defRPr sz="1895"/>
            </a:lvl8pPr>
            <a:lvl9pPr>
              <a:defRPr sz="189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4"/>
            <a:ext cx="5389033" cy="639761"/>
          </a:xfrm>
        </p:spPr>
        <p:txBody>
          <a:bodyPr anchor="b"/>
          <a:lstStyle>
            <a:lvl1pPr marL="0" indent="0">
              <a:buNone/>
              <a:defRPr sz="2845" b="1"/>
            </a:lvl1pPr>
            <a:lvl2pPr marL="543560" indent="0">
              <a:buNone/>
              <a:defRPr sz="2440" b="1"/>
            </a:lvl2pPr>
            <a:lvl3pPr marL="1086485" indent="0">
              <a:buNone/>
              <a:defRPr sz="2165" b="1"/>
            </a:lvl3pPr>
            <a:lvl4pPr marL="1630045" indent="0">
              <a:buNone/>
              <a:defRPr sz="1895" b="1"/>
            </a:lvl4pPr>
            <a:lvl5pPr marL="2173605" indent="0">
              <a:buNone/>
              <a:defRPr sz="1895" b="1"/>
            </a:lvl5pPr>
            <a:lvl6pPr marL="2716530" indent="0">
              <a:buNone/>
              <a:defRPr sz="1895" b="1"/>
            </a:lvl6pPr>
            <a:lvl7pPr marL="3260090" indent="0">
              <a:buNone/>
              <a:defRPr sz="1895" b="1"/>
            </a:lvl7pPr>
            <a:lvl8pPr marL="3803650" indent="0">
              <a:buNone/>
              <a:defRPr sz="1895" b="1"/>
            </a:lvl8pPr>
            <a:lvl9pPr marL="4346575" indent="0">
              <a:buNone/>
              <a:defRPr sz="189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6"/>
            <a:ext cx="5389033" cy="3951288"/>
          </a:xfrm>
        </p:spPr>
        <p:txBody>
          <a:bodyPr/>
          <a:lstStyle>
            <a:lvl1pPr>
              <a:defRPr sz="2845"/>
            </a:lvl1pPr>
            <a:lvl2pPr>
              <a:defRPr sz="2440"/>
            </a:lvl2pPr>
            <a:lvl3pPr>
              <a:defRPr sz="2165"/>
            </a:lvl3pPr>
            <a:lvl4pPr>
              <a:defRPr sz="1895"/>
            </a:lvl4pPr>
            <a:lvl5pPr>
              <a:defRPr sz="1895"/>
            </a:lvl5pPr>
            <a:lvl6pPr>
              <a:defRPr sz="1895"/>
            </a:lvl6pPr>
            <a:lvl7pPr>
              <a:defRPr sz="1895"/>
            </a:lvl7pPr>
            <a:lvl8pPr>
              <a:defRPr sz="1895"/>
            </a:lvl8pPr>
            <a:lvl9pPr>
              <a:defRPr sz="189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52C38-3D3A-4837-A50F-CBFB8EBC1969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2779821" y="6725562"/>
            <a:ext cx="2438366" cy="127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123825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5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PPT</a:t>
            </a:r>
            <a:r>
              <a:rPr kumimoji="0" lang="zh-CN" altLang="en-US" sz="135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模板</a:t>
            </a:r>
            <a:r>
              <a:rPr kumimoji="0" lang="zh-CN" altLang="en-US" sz="135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altLang="zh-CN" sz="135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http://www.1ppt.com/moban/</a:t>
            </a:r>
            <a:r>
              <a:rPr kumimoji="0" lang="zh-CN" altLang="en-US" sz="135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endParaRPr kumimoji="0" lang="en-US" altLang="zh-CN" sz="135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77E7F-A540-4B8A-8F51-C00BF444D213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12F2-3C8F-4BD6-BC59-08D4996AF33B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44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273050"/>
            <a:ext cx="6815667" cy="5853114"/>
          </a:xfrm>
        </p:spPr>
        <p:txBody>
          <a:bodyPr/>
          <a:lstStyle>
            <a:lvl1pPr>
              <a:defRPr sz="3795"/>
            </a:lvl1pPr>
            <a:lvl2pPr>
              <a:defRPr sz="3385"/>
            </a:lvl2pPr>
            <a:lvl3pPr>
              <a:defRPr sz="2845"/>
            </a:lvl3pPr>
            <a:lvl4pPr>
              <a:defRPr sz="2440"/>
            </a:lvl4pPr>
            <a:lvl5pPr>
              <a:defRPr sz="2440"/>
            </a:lvl5pPr>
            <a:lvl6pPr>
              <a:defRPr sz="2440"/>
            </a:lvl6pPr>
            <a:lvl7pPr>
              <a:defRPr sz="2440"/>
            </a:lvl7pPr>
            <a:lvl8pPr>
              <a:defRPr sz="2440"/>
            </a:lvl8pPr>
            <a:lvl9pPr>
              <a:defRPr sz="244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2"/>
          </a:xfrm>
        </p:spPr>
        <p:txBody>
          <a:bodyPr/>
          <a:lstStyle>
            <a:lvl1pPr marL="0" indent="0">
              <a:buNone/>
              <a:defRPr sz="1625"/>
            </a:lvl1pPr>
            <a:lvl2pPr marL="543560" indent="0">
              <a:buNone/>
              <a:defRPr sz="1490"/>
            </a:lvl2pPr>
            <a:lvl3pPr marL="1086485" indent="0">
              <a:buNone/>
              <a:defRPr sz="1220"/>
            </a:lvl3pPr>
            <a:lvl4pPr marL="1630045" indent="0">
              <a:buNone/>
              <a:defRPr sz="1085"/>
            </a:lvl4pPr>
            <a:lvl5pPr marL="2173605" indent="0">
              <a:buNone/>
              <a:defRPr sz="1085"/>
            </a:lvl5pPr>
            <a:lvl6pPr marL="2716530" indent="0">
              <a:buNone/>
              <a:defRPr sz="1085"/>
            </a:lvl6pPr>
            <a:lvl7pPr marL="3260090" indent="0">
              <a:buNone/>
              <a:defRPr sz="1085"/>
            </a:lvl7pPr>
            <a:lvl8pPr marL="3803650" indent="0">
              <a:buNone/>
              <a:defRPr sz="1085"/>
            </a:lvl8pPr>
            <a:lvl9pPr marL="4346575" indent="0">
              <a:buNone/>
              <a:defRPr sz="108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7E6CD-2577-4A9D-8D7E-83382014898F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9" y="4800600"/>
            <a:ext cx="7315200" cy="566738"/>
          </a:xfrm>
        </p:spPr>
        <p:txBody>
          <a:bodyPr anchor="b"/>
          <a:lstStyle>
            <a:lvl1pPr algn="l">
              <a:defRPr sz="244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9" y="612775"/>
            <a:ext cx="7315200" cy="4114800"/>
          </a:xfrm>
        </p:spPr>
        <p:txBody>
          <a:bodyPr/>
          <a:lstStyle>
            <a:lvl1pPr marL="0" indent="0">
              <a:buNone/>
              <a:defRPr sz="3795"/>
            </a:lvl1pPr>
            <a:lvl2pPr marL="543560" indent="0">
              <a:buNone/>
              <a:defRPr sz="3385"/>
            </a:lvl2pPr>
            <a:lvl3pPr marL="1086485" indent="0">
              <a:buNone/>
              <a:defRPr sz="2845"/>
            </a:lvl3pPr>
            <a:lvl4pPr marL="1630045" indent="0">
              <a:buNone/>
              <a:defRPr sz="2440"/>
            </a:lvl4pPr>
            <a:lvl5pPr marL="2173605" indent="0">
              <a:buNone/>
              <a:defRPr sz="2440"/>
            </a:lvl5pPr>
            <a:lvl6pPr marL="2716530" indent="0">
              <a:buNone/>
              <a:defRPr sz="2440"/>
            </a:lvl6pPr>
            <a:lvl7pPr marL="3260090" indent="0">
              <a:buNone/>
              <a:defRPr sz="2440"/>
            </a:lvl7pPr>
            <a:lvl8pPr marL="3803650" indent="0">
              <a:buNone/>
              <a:defRPr sz="2440"/>
            </a:lvl8pPr>
            <a:lvl9pPr marL="4346575" indent="0">
              <a:buNone/>
              <a:defRPr sz="244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9" y="5367339"/>
            <a:ext cx="7315200" cy="804862"/>
          </a:xfrm>
        </p:spPr>
        <p:txBody>
          <a:bodyPr/>
          <a:lstStyle>
            <a:lvl1pPr marL="0" indent="0">
              <a:buNone/>
              <a:defRPr sz="1625"/>
            </a:lvl1pPr>
            <a:lvl2pPr marL="543560" indent="0">
              <a:buNone/>
              <a:defRPr sz="1490"/>
            </a:lvl2pPr>
            <a:lvl3pPr marL="1086485" indent="0">
              <a:buNone/>
              <a:defRPr sz="1220"/>
            </a:lvl3pPr>
            <a:lvl4pPr marL="1630045" indent="0">
              <a:buNone/>
              <a:defRPr sz="1085"/>
            </a:lvl4pPr>
            <a:lvl5pPr marL="2173605" indent="0">
              <a:buNone/>
              <a:defRPr sz="1085"/>
            </a:lvl5pPr>
            <a:lvl6pPr marL="2716530" indent="0">
              <a:buNone/>
              <a:defRPr sz="1085"/>
            </a:lvl6pPr>
            <a:lvl7pPr marL="3260090" indent="0">
              <a:buNone/>
              <a:defRPr sz="1085"/>
            </a:lvl7pPr>
            <a:lvl8pPr marL="3803650" indent="0">
              <a:buNone/>
              <a:defRPr sz="1085"/>
            </a:lvl8pPr>
            <a:lvl9pPr marL="4346575" indent="0">
              <a:buNone/>
              <a:defRPr sz="108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403F4-0045-4DC4-91CE-A3C2EB5BE42F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30170-CD09-4AB3-AB7C-702B29DDEE8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1" y="274639"/>
            <a:ext cx="2743200" cy="585152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1" cy="585152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FF0BC-8145-432A-8FD9-FC9292DA1BA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A4FCB-7C52-7A48-A43F-8F41CF2014C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EB204-5D25-534B-83FA-62942B38E04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A4FCB-7C52-7A48-A43F-8F41CF2014C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EB204-5D25-534B-83FA-62942B38E04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A4FCB-7C52-7A48-A43F-8F41CF2014C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EB204-5D25-534B-83FA-62942B38E04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A4FCB-7C52-7A48-A43F-8F41CF2014C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EB204-5D25-534B-83FA-62942B38E04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A4FCB-7C52-7A48-A43F-8F41CF2014C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EB204-5D25-534B-83FA-62942B38E04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A4FCB-7C52-7A48-A43F-8F41CF2014C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EB204-5D25-534B-83FA-62942B38E04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A4FCB-7C52-7A48-A43F-8F41CF2014C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EB204-5D25-534B-83FA-62942B38E04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A4FCB-7C52-7A48-A43F-8F41CF2014C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EB204-5D25-534B-83FA-62942B38E04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A4FCB-7C52-7A48-A43F-8F41CF2014C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EB204-5D25-534B-83FA-62942B38E04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A4FCB-7C52-7A48-A43F-8F41CF2014C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EB204-5D25-534B-83FA-62942B38E04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A4FCB-7C52-7A48-A43F-8F41CF2014C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EB204-5D25-534B-83FA-62942B38E04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1143000"/>
          </a:xfrm>
          <a:prstGeom prst="rect">
            <a:avLst/>
          </a:prstGeom>
        </p:spPr>
        <p:txBody>
          <a:bodyPr vert="horz" lIns="80229" tIns="40115" rIns="80229" bIns="40115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1" cy="4525964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1" cy="365125"/>
          </a:xfrm>
          <a:prstGeom prst="rect">
            <a:avLst/>
          </a:prstGeom>
        </p:spPr>
        <p:txBody>
          <a:bodyPr vert="horz" lIns="80229" tIns="40115" rIns="80229" bIns="40115" rtlCol="0" anchor="ctr"/>
          <a:lstStyle>
            <a:lvl1pPr algn="l">
              <a:defRPr sz="14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62FC7A-8D90-4FAD-9777-1F92426B8E6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1" y="6356351"/>
            <a:ext cx="3860800" cy="365125"/>
          </a:xfrm>
          <a:prstGeom prst="rect">
            <a:avLst/>
          </a:prstGeom>
        </p:spPr>
        <p:txBody>
          <a:bodyPr vert="horz" lIns="80229" tIns="40115" rIns="80229" bIns="40115" rtlCol="0" anchor="ctr"/>
          <a:lstStyle>
            <a:lvl1pPr algn="ctr">
              <a:defRPr sz="14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1" cy="365125"/>
          </a:xfrm>
          <a:prstGeom prst="rect">
            <a:avLst/>
          </a:prstGeom>
        </p:spPr>
        <p:txBody>
          <a:bodyPr vert="horz" lIns="80229" tIns="40115" rIns="80229" bIns="40115" rtlCol="0" anchor="ctr"/>
          <a:lstStyle>
            <a:lvl1pPr algn="r">
              <a:defRPr sz="14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sldNum="0" hdr="0" ftr="0" dt="0"/>
  <p:txStyles>
    <p:titleStyle>
      <a:lvl1pPr algn="ctr" defTabSz="1086485" rtl="0" eaLnBrk="1" latinLnBrk="0" hangingPunct="1">
        <a:spcBef>
          <a:spcPct val="0"/>
        </a:spcBef>
        <a:buNone/>
        <a:defRPr sz="528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7670" indent="-407670" algn="l" defTabSz="1086485" rtl="0" eaLnBrk="1" latinLnBrk="0" hangingPunct="1">
        <a:spcBef>
          <a:spcPct val="20000"/>
        </a:spcBef>
        <a:buFont typeface="Arial" panose="020B0704020202020204" pitchFamily="34" charset="0"/>
        <a:buChar char="•"/>
        <a:defRPr sz="3795" kern="1200">
          <a:solidFill>
            <a:schemeClr val="tx1"/>
          </a:solidFill>
          <a:latin typeface="+mn-lt"/>
          <a:ea typeface="+mn-ea"/>
          <a:cs typeface="+mn-cs"/>
        </a:defRPr>
      </a:lvl1pPr>
      <a:lvl2pPr marL="882650" indent="-339725" algn="l" defTabSz="1086485" rtl="0" eaLnBrk="1" latinLnBrk="0" hangingPunct="1">
        <a:spcBef>
          <a:spcPct val="20000"/>
        </a:spcBef>
        <a:buFont typeface="Arial" panose="020B0704020202020204" pitchFamily="34" charset="0"/>
        <a:buChar char="–"/>
        <a:defRPr sz="3385" kern="1200">
          <a:solidFill>
            <a:schemeClr val="tx1"/>
          </a:solidFill>
          <a:latin typeface="+mn-lt"/>
          <a:ea typeface="+mn-ea"/>
          <a:cs typeface="+mn-cs"/>
        </a:defRPr>
      </a:lvl2pPr>
      <a:lvl3pPr marL="1358265" indent="-271780" algn="l" defTabSz="1086485" rtl="0" eaLnBrk="1" latinLnBrk="0" hangingPunct="1">
        <a:spcBef>
          <a:spcPct val="20000"/>
        </a:spcBef>
        <a:buFont typeface="Arial" panose="020B0704020202020204" pitchFamily="34" charset="0"/>
        <a:buChar char="•"/>
        <a:defRPr sz="2845" kern="1200">
          <a:solidFill>
            <a:schemeClr val="tx1"/>
          </a:solidFill>
          <a:latin typeface="+mn-lt"/>
          <a:ea typeface="+mn-ea"/>
          <a:cs typeface="+mn-cs"/>
        </a:defRPr>
      </a:lvl3pPr>
      <a:lvl4pPr marL="1901825" indent="-271780" algn="l" defTabSz="1086485" rtl="0" eaLnBrk="1" latinLnBrk="0" hangingPunct="1">
        <a:spcBef>
          <a:spcPct val="20000"/>
        </a:spcBef>
        <a:buFont typeface="Arial" panose="020B0704020202020204" pitchFamily="34" charset="0"/>
        <a:buChar char="–"/>
        <a:defRPr sz="2440" kern="1200">
          <a:solidFill>
            <a:schemeClr val="tx1"/>
          </a:solidFill>
          <a:latin typeface="+mn-lt"/>
          <a:ea typeface="+mn-ea"/>
          <a:cs typeface="+mn-cs"/>
        </a:defRPr>
      </a:lvl4pPr>
      <a:lvl5pPr marL="2445385" indent="-271780" algn="l" defTabSz="1086485" rtl="0" eaLnBrk="1" latinLnBrk="0" hangingPunct="1">
        <a:spcBef>
          <a:spcPct val="20000"/>
        </a:spcBef>
        <a:buFont typeface="Arial" panose="020B0704020202020204" pitchFamily="34" charset="0"/>
        <a:buChar char="»"/>
        <a:defRPr sz="2440" kern="1200">
          <a:solidFill>
            <a:schemeClr val="tx1"/>
          </a:solidFill>
          <a:latin typeface="+mn-lt"/>
          <a:ea typeface="+mn-ea"/>
          <a:cs typeface="+mn-cs"/>
        </a:defRPr>
      </a:lvl5pPr>
      <a:lvl6pPr marL="2988310" indent="-271780" algn="l" defTabSz="1086485" rtl="0" eaLnBrk="1" latinLnBrk="0" hangingPunct="1">
        <a:spcBef>
          <a:spcPct val="20000"/>
        </a:spcBef>
        <a:buFont typeface="Arial" panose="020B0704020202020204" pitchFamily="34" charset="0"/>
        <a:buChar char="•"/>
        <a:defRPr sz="2440" kern="1200">
          <a:solidFill>
            <a:schemeClr val="tx1"/>
          </a:solidFill>
          <a:latin typeface="+mn-lt"/>
          <a:ea typeface="+mn-ea"/>
          <a:cs typeface="+mn-cs"/>
        </a:defRPr>
      </a:lvl6pPr>
      <a:lvl7pPr marL="3531870" indent="-271780" algn="l" defTabSz="1086485" rtl="0" eaLnBrk="1" latinLnBrk="0" hangingPunct="1">
        <a:spcBef>
          <a:spcPct val="20000"/>
        </a:spcBef>
        <a:buFont typeface="Arial" panose="020B0704020202020204" pitchFamily="34" charset="0"/>
        <a:buChar char="•"/>
        <a:defRPr sz="2440" kern="1200">
          <a:solidFill>
            <a:schemeClr val="tx1"/>
          </a:solidFill>
          <a:latin typeface="+mn-lt"/>
          <a:ea typeface="+mn-ea"/>
          <a:cs typeface="+mn-cs"/>
        </a:defRPr>
      </a:lvl7pPr>
      <a:lvl8pPr marL="4075430" indent="-271780" algn="l" defTabSz="1086485" rtl="0" eaLnBrk="1" latinLnBrk="0" hangingPunct="1">
        <a:spcBef>
          <a:spcPct val="20000"/>
        </a:spcBef>
        <a:buFont typeface="Arial" panose="020B0704020202020204" pitchFamily="34" charset="0"/>
        <a:buChar char="•"/>
        <a:defRPr sz="2440" kern="1200">
          <a:solidFill>
            <a:schemeClr val="tx1"/>
          </a:solidFill>
          <a:latin typeface="+mn-lt"/>
          <a:ea typeface="+mn-ea"/>
          <a:cs typeface="+mn-cs"/>
        </a:defRPr>
      </a:lvl8pPr>
      <a:lvl9pPr marL="4618355" indent="-271780" algn="l" defTabSz="1086485" rtl="0" eaLnBrk="1" latinLnBrk="0" hangingPunct="1">
        <a:spcBef>
          <a:spcPct val="20000"/>
        </a:spcBef>
        <a:buFont typeface="Arial" panose="020B0704020202020204" pitchFamily="34" charset="0"/>
        <a:buChar char="•"/>
        <a:defRPr sz="24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86485" rtl="0" eaLnBrk="1" latinLnBrk="0" hangingPunct="1">
        <a:defRPr sz="2165" kern="1200">
          <a:solidFill>
            <a:schemeClr val="tx1"/>
          </a:solidFill>
          <a:latin typeface="+mn-lt"/>
          <a:ea typeface="+mn-ea"/>
          <a:cs typeface="+mn-cs"/>
        </a:defRPr>
      </a:lvl1pPr>
      <a:lvl2pPr marL="543560" algn="l" defTabSz="1086485" rtl="0" eaLnBrk="1" latinLnBrk="0" hangingPunct="1">
        <a:defRPr sz="2165" kern="1200">
          <a:solidFill>
            <a:schemeClr val="tx1"/>
          </a:solidFill>
          <a:latin typeface="+mn-lt"/>
          <a:ea typeface="+mn-ea"/>
          <a:cs typeface="+mn-cs"/>
        </a:defRPr>
      </a:lvl2pPr>
      <a:lvl3pPr marL="1086485" algn="l" defTabSz="1086485" rtl="0" eaLnBrk="1" latinLnBrk="0" hangingPunct="1">
        <a:defRPr sz="2165" kern="1200">
          <a:solidFill>
            <a:schemeClr val="tx1"/>
          </a:solidFill>
          <a:latin typeface="+mn-lt"/>
          <a:ea typeface="+mn-ea"/>
          <a:cs typeface="+mn-cs"/>
        </a:defRPr>
      </a:lvl3pPr>
      <a:lvl4pPr marL="1630045" algn="l" defTabSz="1086485" rtl="0" eaLnBrk="1" latinLnBrk="0" hangingPunct="1">
        <a:defRPr sz="2165" kern="1200">
          <a:solidFill>
            <a:schemeClr val="tx1"/>
          </a:solidFill>
          <a:latin typeface="+mn-lt"/>
          <a:ea typeface="+mn-ea"/>
          <a:cs typeface="+mn-cs"/>
        </a:defRPr>
      </a:lvl4pPr>
      <a:lvl5pPr marL="2173605" algn="l" defTabSz="1086485" rtl="0" eaLnBrk="1" latinLnBrk="0" hangingPunct="1">
        <a:defRPr sz="2165" kern="1200">
          <a:solidFill>
            <a:schemeClr val="tx1"/>
          </a:solidFill>
          <a:latin typeface="+mn-lt"/>
          <a:ea typeface="+mn-ea"/>
          <a:cs typeface="+mn-cs"/>
        </a:defRPr>
      </a:lvl5pPr>
      <a:lvl6pPr marL="2716530" algn="l" defTabSz="1086485" rtl="0" eaLnBrk="1" latinLnBrk="0" hangingPunct="1">
        <a:defRPr sz="2165" kern="1200">
          <a:solidFill>
            <a:schemeClr val="tx1"/>
          </a:solidFill>
          <a:latin typeface="+mn-lt"/>
          <a:ea typeface="+mn-ea"/>
          <a:cs typeface="+mn-cs"/>
        </a:defRPr>
      </a:lvl6pPr>
      <a:lvl7pPr marL="3260090" algn="l" defTabSz="1086485" rtl="0" eaLnBrk="1" latinLnBrk="0" hangingPunct="1">
        <a:defRPr sz="2165" kern="1200">
          <a:solidFill>
            <a:schemeClr val="tx1"/>
          </a:solidFill>
          <a:latin typeface="+mn-lt"/>
          <a:ea typeface="+mn-ea"/>
          <a:cs typeface="+mn-cs"/>
        </a:defRPr>
      </a:lvl7pPr>
      <a:lvl8pPr marL="3803650" algn="l" defTabSz="1086485" rtl="0" eaLnBrk="1" latinLnBrk="0" hangingPunct="1">
        <a:defRPr sz="2165" kern="1200">
          <a:solidFill>
            <a:schemeClr val="tx1"/>
          </a:solidFill>
          <a:latin typeface="+mn-lt"/>
          <a:ea typeface="+mn-ea"/>
          <a:cs typeface="+mn-cs"/>
        </a:defRPr>
      </a:lvl8pPr>
      <a:lvl9pPr marL="4346575" algn="l" defTabSz="1086485" rtl="0" eaLnBrk="1" latinLnBrk="0" hangingPunct="1">
        <a:defRPr sz="21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7A4FCB-7C52-7A48-A43F-8F41CF2014C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7EB204-5D25-534B-83FA-62942B38E04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1.xml"/><Relationship Id="rId4" Type="http://schemas.openxmlformats.org/officeDocument/2006/relationships/tags" Target="../tags/tag3.xml"/><Relationship Id="rId3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tags" Target="../tags/tag6.xml"/><Relationship Id="rId3" Type="http://schemas.openxmlformats.org/officeDocument/2006/relationships/image" Target="../media/image2.png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10.xml"/><Relationship Id="rId6" Type="http://schemas.openxmlformats.org/officeDocument/2006/relationships/image" Target="../media/image6.png"/><Relationship Id="rId5" Type="http://schemas.openxmlformats.org/officeDocument/2006/relationships/tags" Target="../tags/tag9.xml"/><Relationship Id="rId4" Type="http://schemas.openxmlformats.org/officeDocument/2006/relationships/image" Target="../media/image5.jpeg"/><Relationship Id="rId3" Type="http://schemas.openxmlformats.org/officeDocument/2006/relationships/tags" Target="../tags/tag8.xml"/><Relationship Id="rId2" Type="http://schemas.openxmlformats.org/officeDocument/2006/relationships/image" Target="../media/image4.png"/><Relationship Id="rId1" Type="http://schemas.openxmlformats.org/officeDocument/2006/relationships/tags" Target="../tags/tag7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tags" Target="../tags/tag13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4.png"/><Relationship Id="rId2" Type="http://schemas.openxmlformats.org/officeDocument/2006/relationships/tags" Target="../tags/tag14.xml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image" Target="../media/image19.png"/><Relationship Id="rId6" Type="http://schemas.openxmlformats.org/officeDocument/2006/relationships/tags" Target="../tags/tag1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12.xml"/><Relationship Id="rId1" Type="http://schemas.openxmlformats.org/officeDocument/2006/relationships/tags" Target="../tags/tag15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12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image" Target="../media/image22.png"/><Relationship Id="rId3" Type="http://schemas.openxmlformats.org/officeDocument/2006/relationships/tags" Target="../tags/tag19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tags" Target="../tags/tag26.xml"/><Relationship Id="rId4" Type="http://schemas.openxmlformats.org/officeDocument/2006/relationships/image" Target="../media/image23.png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7.png"/><Relationship Id="rId3" Type="http://schemas.openxmlformats.org/officeDocument/2006/relationships/tags" Target="../tags/tag27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image" Target="../media/image29.png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image" Target="../media/image28.png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2" Type="http://schemas.openxmlformats.org/officeDocument/2006/relationships/notesSlide" Target="../notesSlides/notesSlide12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34.xml"/><Relationship Id="rId1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image" Target="../media/image32.jpeg"/><Relationship Id="rId5" Type="http://schemas.openxmlformats.org/officeDocument/2006/relationships/tags" Target="../tags/tag37.xml"/><Relationship Id="rId4" Type="http://schemas.openxmlformats.org/officeDocument/2006/relationships/image" Target="../media/image31.jpeg"/><Relationship Id="rId3" Type="http://schemas.openxmlformats.org/officeDocument/2006/relationships/tags" Target="../tags/tag36.xml"/><Relationship Id="rId2" Type="http://schemas.openxmlformats.org/officeDocument/2006/relationships/image" Target="../media/image30.jpeg"/><Relationship Id="rId11" Type="http://schemas.openxmlformats.org/officeDocument/2006/relationships/notesSlide" Target="../notesSlides/notesSlide13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image" Target="../media/image35.png"/><Relationship Id="rId5" Type="http://schemas.openxmlformats.org/officeDocument/2006/relationships/tags" Target="../tags/tag43.xml"/><Relationship Id="rId4" Type="http://schemas.openxmlformats.org/officeDocument/2006/relationships/image" Target="../media/image34.jpeg"/><Relationship Id="rId3" Type="http://schemas.openxmlformats.org/officeDocument/2006/relationships/tags" Target="../tags/tag42.xml"/><Relationship Id="rId2" Type="http://schemas.openxmlformats.org/officeDocument/2006/relationships/image" Target="../media/image33.png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48.xml"/><Relationship Id="rId10" Type="http://schemas.openxmlformats.org/officeDocument/2006/relationships/tags" Target="../tags/tag47.xml"/><Relationship Id="rId1" Type="http://schemas.openxmlformats.org/officeDocument/2006/relationships/tags" Target="../tags/tag41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png"/><Relationship Id="rId8" Type="http://schemas.openxmlformats.org/officeDocument/2006/relationships/image" Target="../media/image38.png"/><Relationship Id="rId7" Type="http://schemas.openxmlformats.org/officeDocument/2006/relationships/image" Target="../media/image37.png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image" Target="../media/image36.png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54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24.xml"/><Relationship Id="rId5" Type="http://schemas.openxmlformats.org/officeDocument/2006/relationships/image" Target="../media/image20.png"/><Relationship Id="rId4" Type="http://schemas.openxmlformats.org/officeDocument/2006/relationships/image" Target="../media/image43.jpeg"/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image" Target="../media/image40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7" Type="http://schemas.openxmlformats.org/officeDocument/2006/relationships/tags" Target="../tags/tag63.xml"/><Relationship Id="rId6" Type="http://schemas.openxmlformats.org/officeDocument/2006/relationships/image" Target="../media/image45.png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image" Target="../media/image44.png"/><Relationship Id="rId1" Type="http://schemas.openxmlformats.org/officeDocument/2006/relationships/tags" Target="../tags/tag59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2.png"/><Relationship Id="rId8" Type="http://schemas.openxmlformats.org/officeDocument/2006/relationships/tags" Target="../tags/tag65.xml"/><Relationship Id="rId7" Type="http://schemas.openxmlformats.org/officeDocument/2006/relationships/tags" Target="../tags/tag64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1" Type="http://schemas.openxmlformats.org/officeDocument/2006/relationships/notesSlide" Target="../notesSlides/notesSlide15.xml"/><Relationship Id="rId10" Type="http://schemas.openxmlformats.org/officeDocument/2006/relationships/slideLayout" Target="../slideLayouts/slideLayout24.xml"/><Relationship Id="rId1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5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7.png"/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image" Target="../media/image5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9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8.xml"/><Relationship Id="rId4" Type="http://schemas.openxmlformats.org/officeDocument/2006/relationships/image" Target="../media/image62.png"/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chart" Target="../charts/chart1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tags" Target="../tags/tag72.xml"/><Relationship Id="rId7" Type="http://schemas.openxmlformats.org/officeDocument/2006/relationships/image" Target="../media/image66.png"/><Relationship Id="rId6" Type="http://schemas.openxmlformats.org/officeDocument/2006/relationships/tags" Target="../tags/tag71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0" Type="http://schemas.openxmlformats.org/officeDocument/2006/relationships/notesSlide" Target="../notesSlides/notesSlide21.xml"/><Relationship Id="rId1" Type="http://schemas.openxmlformats.org/officeDocument/2006/relationships/image" Target="../media/image63.pn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8.png"/><Relationship Id="rId2" Type="http://schemas.openxmlformats.org/officeDocument/2006/relationships/image" Target="../media/image68.jpeg"/><Relationship Id="rId1" Type="http://schemas.openxmlformats.org/officeDocument/2006/relationships/image" Target="../media/image67.jpe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image" Target="../media/image29.png"/><Relationship Id="rId6" Type="http://schemas.openxmlformats.org/officeDocument/2006/relationships/image" Target="../media/image71.jpeg"/><Relationship Id="rId5" Type="http://schemas.openxmlformats.org/officeDocument/2006/relationships/tags" Target="../tags/tag75.xml"/><Relationship Id="rId4" Type="http://schemas.openxmlformats.org/officeDocument/2006/relationships/image" Target="../media/image70.jpeg"/><Relationship Id="rId3" Type="http://schemas.openxmlformats.org/officeDocument/2006/relationships/tags" Target="../tags/tag74.xml"/><Relationship Id="rId2" Type="http://schemas.openxmlformats.org/officeDocument/2006/relationships/image" Target="../media/image69.jpeg"/><Relationship Id="rId12" Type="http://schemas.openxmlformats.org/officeDocument/2006/relationships/notesSlide" Target="../notesSlides/notesSlide23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78.xml"/><Relationship Id="rId1" Type="http://schemas.openxmlformats.org/officeDocument/2006/relationships/tags" Target="../tags/tag73.xml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9.xml"/><Relationship Id="rId3" Type="http://schemas.openxmlformats.org/officeDocument/2006/relationships/image" Target="../media/image36.png"/><Relationship Id="rId2" Type="http://schemas.openxmlformats.org/officeDocument/2006/relationships/image" Target="../media/image73.jpeg"/><Relationship Id="rId1" Type="http://schemas.openxmlformats.org/officeDocument/2006/relationships/image" Target="../media/image72.jpeg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4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image" Target="../media/image74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 descr="中英文名使用规范"/>
          <p:cNvSpPr>
            <a:spLocks noChangeAspect="1" noChangeArrowheads="1"/>
          </p:cNvSpPr>
          <p:nvPr/>
        </p:nvSpPr>
        <p:spPr bwMode="auto">
          <a:xfrm>
            <a:off x="5889576" y="3221500"/>
            <a:ext cx="412851" cy="412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3855" tIns="61928" rIns="123855" bIns="61928" numCol="1" anchor="t" anchorCtr="0" compatLnSpc="1"/>
          <a:lstStyle/>
          <a:p>
            <a:pPr defTabSz="1086485"/>
            <a:endParaRPr lang="zh-CN" altLang="en-US" sz="2165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4" descr="中英文名使用规范"/>
          <p:cNvSpPr>
            <a:spLocks noChangeAspect="1" noChangeArrowheads="1"/>
          </p:cNvSpPr>
          <p:nvPr/>
        </p:nvSpPr>
        <p:spPr bwMode="auto">
          <a:xfrm>
            <a:off x="6096001" y="3427926"/>
            <a:ext cx="412851" cy="412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3855" tIns="61928" rIns="123855" bIns="61928" numCol="1" anchor="t" anchorCtr="0" compatLnSpc="1"/>
          <a:lstStyle/>
          <a:p>
            <a:pPr defTabSz="1086485"/>
            <a:endParaRPr lang="zh-CN" altLang="en-US" sz="2165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5"/>
          <p:cNvSpPr txBox="1"/>
          <p:nvPr>
            <p:custDataLst>
              <p:tags r:id="rId1"/>
            </p:custDataLst>
          </p:nvPr>
        </p:nvSpPr>
        <p:spPr>
          <a:xfrm>
            <a:off x="1504950" y="4667250"/>
            <a:ext cx="9390380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ts val="2100"/>
              </a:lnSpc>
            </a:pPr>
            <a:r>
              <a:rPr lang="en-US" altLang="zh-CN" sz="2800" b="0" i="0" dirty="0">
                <a:solidFill>
                  <a:srgbClr val="3C3C58"/>
                </a:solidFill>
                <a:effectLst/>
                <a:latin typeface="Segoe UI" panose="020B0502040204020203" pitchFamily="34" charset="0"/>
              </a:rPr>
              <a:t>                </a:t>
            </a:r>
            <a:endParaRPr lang="en-US" altLang="zh-CN" sz="2800" b="0" i="0" dirty="0">
              <a:solidFill>
                <a:srgbClr val="3C3C58"/>
              </a:solidFill>
              <a:effectLst/>
              <a:latin typeface="Segoe UI" panose="020B0502040204020203" pitchFamily="34" charset="0"/>
            </a:endParaRPr>
          </a:p>
          <a:p>
            <a:pPr algn="ctr">
              <a:lnSpc>
                <a:spcPts val="2100"/>
              </a:lnSpc>
            </a:pPr>
            <a:r>
              <a:rPr lang="en-US" altLang="zh-CN" sz="2800" dirty="0">
                <a:solidFill>
                  <a:srgbClr val="3C3C58"/>
                </a:solidFill>
                <a:latin typeface="Segoe UI" panose="020B0502040204020203" pitchFamily="34" charset="0"/>
              </a:rPr>
              <a:t>  </a:t>
            </a:r>
            <a:r>
              <a:rPr lang="en-US" altLang="zh-CN" sz="2800" b="0" i="0" dirty="0" err="1">
                <a:effectLst/>
                <a:latin typeface="Segoe UI" panose="020B0502040204020203" pitchFamily="34" charset="0"/>
              </a:rPr>
              <a:t>Hanrui</a:t>
            </a:r>
            <a:r>
              <a:rPr lang="en-US" altLang="zh-CN" sz="2800" b="0" i="0" dirty="0">
                <a:effectLst/>
                <a:latin typeface="Segoe UI" panose="020B0502040204020203" pitchFamily="34" charset="0"/>
              </a:rPr>
              <a:t> Duan</a:t>
            </a:r>
            <a:endParaRPr lang="en-US" altLang="zh-CN" sz="2800" b="0" i="0" dirty="0"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2100"/>
              </a:lnSpc>
            </a:pPr>
            <a:r>
              <a:rPr lang="en-US" altLang="zh-CN" sz="2800" dirty="0">
                <a:solidFill>
                  <a:srgbClr val="3C3C58"/>
                </a:solidFill>
                <a:latin typeface="Segoe UI" panose="020B0502040204020203" pitchFamily="34" charset="0"/>
              </a:rPr>
              <a:t>   </a:t>
            </a:r>
            <a:endParaRPr lang="en-US" altLang="zh-CN" sz="2800" dirty="0">
              <a:solidFill>
                <a:prstClr val="black"/>
              </a:solidFill>
              <a:latin typeface="Arial" panose="020B0704020202020204" pitchFamily="34" charset="0"/>
              <a:ea typeface="黑体" panose="02010609060101010101" pitchFamily="49" charset="-122"/>
              <a:cs typeface="Arial" panose="020B0704020202020204" pitchFamily="34" charset="0"/>
            </a:endParaRPr>
          </a:p>
          <a:p>
            <a:pPr algn="l">
              <a:lnSpc>
                <a:spcPts val="2100"/>
              </a:lnSpc>
            </a:pPr>
            <a:endParaRPr lang="zh-CN" altLang="en-US" sz="2710" dirty="0">
              <a:solidFill>
                <a:prstClr val="black"/>
              </a:solidFill>
              <a:latin typeface="Arial" panose="020B0704020202020204" pitchFamily="34" charset="0"/>
              <a:ea typeface="黑体" panose="02010609060101010101" pitchFamily="49" charset="-122"/>
              <a:cs typeface="Arial" panose="020B07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54326" y="5051792"/>
            <a:ext cx="6096000" cy="8172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1238250">
              <a:lnSpc>
                <a:spcPct val="200000"/>
              </a:lnSpc>
            </a:pPr>
            <a:r>
              <a:rPr lang="en-US" altLang="zh-CN" sz="2710" dirty="0">
                <a:solidFill>
                  <a:prstClr val="black"/>
                </a:solidFill>
                <a:latin typeface="Arial" panose="020B0704020202020204" pitchFamily="34" charset="0"/>
                <a:ea typeface="黑体" panose="02010609060101010101" pitchFamily="49" charset="-122"/>
                <a:cs typeface="Arial" panose="020B0704020202020204" pitchFamily="34" charset="0"/>
              </a:rPr>
              <a:t>2026.09.16</a:t>
            </a:r>
            <a:endParaRPr lang="en-US" altLang="zh-CN" sz="2710" dirty="0">
              <a:solidFill>
                <a:prstClr val="black"/>
              </a:solidFill>
              <a:latin typeface="Arial" panose="020B0704020202020204" pitchFamily="34" charset="0"/>
              <a:ea typeface="黑体" panose="02010609060101010101" pitchFamily="49" charset="-122"/>
              <a:cs typeface="Arial" panose="020B0704020202020204" pitchFamily="34" charset="0"/>
            </a:endParaRPr>
          </a:p>
        </p:txBody>
      </p:sp>
      <p:sp>
        <p:nvSpPr>
          <p:cNvPr id="5" name="标题 1"/>
          <p:cNvSpPr>
            <a:spLocks noGrp="1"/>
          </p:cNvSpPr>
          <p:nvPr/>
        </p:nvSpPr>
        <p:spPr>
          <a:xfrm>
            <a:off x="146685" y="1151255"/>
            <a:ext cx="11576685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ysClr val="windowText" lastClr="000000"/>
                </a:solidFill>
                <a:latin typeface="等线 Light" panose="02010600030101010101" charset="-122"/>
                <a:ea typeface="+mn-ea"/>
                <a:cs typeface="+mn-ea"/>
              </a:defRPr>
            </a:lvl1pPr>
          </a:lstStyle>
          <a:p>
            <a:br>
              <a:rPr lang="en-US" altLang="zh-CN" sz="4000" b="1" dirty="0"/>
            </a:br>
            <a:endParaRPr lang="en-US" altLang="zh-CN" sz="4000" b="1" dirty="0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-18493"/>
            <a:ext cx="12218080" cy="1909075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607303" y="2587235"/>
            <a:ext cx="9390248" cy="13836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zh-CN" sz="2800" dirty="0"/>
              <a:t>Emissions, Chemical Transformation, and Deposition of Atmospheric Reactive Nitrogen and its impact on PM2.5 in  the Pearl River Delta </a:t>
            </a:r>
            <a:endParaRPr lang="en-US" altLang="zh-CN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213"/>
    </mc:Choice>
    <mc:Fallback>
      <p:transition spd="slow" advTm="2521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91071" y="1576070"/>
            <a:ext cx="8894430" cy="4351655"/>
          </a:xfrm>
        </p:spPr>
        <p:txBody>
          <a:bodyPr>
            <a:normAutofit fontScale="97500"/>
          </a:bodyPr>
          <a:lstStyle/>
          <a:p>
            <a:pPr marL="742950" indent="-742950">
              <a:buFont typeface="+mj-lt"/>
              <a:buAutoNum type="arabicPeriod"/>
            </a:pPr>
            <a:r>
              <a:rPr kumimoji="1" lang="en-US" altLang="zh-CN" sz="4000" dirty="0"/>
              <a:t>Background &amp; </a:t>
            </a:r>
            <a:r>
              <a:rPr kumimoji="1" lang="en-US" altLang="zh-CN" sz="4000" dirty="0">
                <a:sym typeface="+mn-ea"/>
              </a:rPr>
              <a:t>Literature Review</a:t>
            </a:r>
            <a:r>
              <a:rPr kumimoji="1" lang="en-US" altLang="zh-CN" sz="4000" dirty="0"/>
              <a:t> </a:t>
            </a:r>
            <a:endParaRPr kumimoji="1" lang="en-US" altLang="zh-CN" sz="4000" dirty="0"/>
          </a:p>
          <a:p>
            <a:pPr marL="742950" indent="-742950">
              <a:buFont typeface="+mj-lt"/>
              <a:buAutoNum type="arabicPeriod"/>
            </a:pPr>
            <a:r>
              <a:rPr kumimoji="1" lang="en-US" altLang="zh-CN" sz="4000" dirty="0"/>
              <a:t>Long term trends and composition shifts of emissions in the PRD region</a:t>
            </a:r>
            <a:endParaRPr kumimoji="1" lang="en-US" altLang="zh-CN" sz="4000" dirty="0"/>
          </a:p>
          <a:p>
            <a:pPr marL="742950" indent="-742950">
              <a:buFont typeface="+mj-lt"/>
              <a:buAutoNum type="arabicPeriod"/>
            </a:pPr>
            <a:r>
              <a:rPr kumimoji="1" lang="en-US" altLang="zh-CN" sz="4000" dirty="0"/>
              <a:t>PM2.5 concentration changes and its causes </a:t>
            </a:r>
            <a:endParaRPr kumimoji="1" lang="en-US" altLang="zh-CN" sz="4000" dirty="0"/>
          </a:p>
          <a:p>
            <a:pPr marL="742950" indent="-742950">
              <a:buFont typeface="+mj-lt"/>
              <a:buAutoNum type="arabicPeriod"/>
            </a:pPr>
            <a:r>
              <a:rPr kumimoji="1" lang="en-US" altLang="zh-CN" sz="4000" dirty="0"/>
              <a:t>Conclusions</a:t>
            </a:r>
            <a:endParaRPr kumimoji="1" lang="en-US" altLang="zh-CN" sz="4000" dirty="0"/>
          </a:p>
          <a:p>
            <a:pPr marL="0" indent="0">
              <a:buNone/>
            </a:pPr>
            <a:endParaRPr kumimoji="1" lang="en-US" altLang="zh-CN" sz="4000" dirty="0"/>
          </a:p>
        </p:txBody>
      </p:sp>
      <p:sp>
        <p:nvSpPr>
          <p:cNvPr id="77" name="文本框 76"/>
          <p:cNvSpPr txBox="1"/>
          <p:nvPr>
            <p:custDataLst>
              <p:tags r:id="rId1"/>
            </p:custDataLst>
          </p:nvPr>
        </p:nvSpPr>
        <p:spPr>
          <a:xfrm>
            <a:off x="5158740" y="374650"/>
            <a:ext cx="1874520" cy="962660"/>
          </a:xfrm>
          <a:prstGeom prst="rect">
            <a:avLst/>
          </a:prstGeom>
          <a:noFill/>
        </p:spPr>
        <p:txBody>
          <a:bodyPr wrap="square" rtlCol="0" anchor="t" anchorCtr="0"/>
          <a:lstStyle/>
          <a:p>
            <a:pPr marL="0" indent="0" algn="di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2800" b="1" dirty="0">
                <a:gradFill>
                  <a:gsLst>
                    <a:gs pos="100000">
                      <a:schemeClr val="accent1"/>
                    </a:gs>
                    <a:gs pos="4000">
                      <a:schemeClr val="accent1">
                        <a:lumMod val="60000"/>
                        <a:lumOff val="40000"/>
                      </a:schemeClr>
                    </a:gs>
                    <a:gs pos="33000">
                      <a:schemeClr val="accent1"/>
                    </a:gs>
                  </a:gsLst>
                  <a:lin ang="2700000" scaled="0"/>
                  <a:tileRect/>
                </a:gradFill>
                <a:latin typeface="Arial" panose="020B0704020202020204" pitchFamily="34" charset="0"/>
                <a:ea typeface="微软雅黑" panose="020B0503020204020204" charset="-122"/>
              </a:rPr>
              <a:t>Contents</a:t>
            </a:r>
            <a:endParaRPr lang="en-US" altLang="zh-CN" sz="2800" b="1" dirty="0">
              <a:gradFill>
                <a:gsLst>
                  <a:gs pos="100000">
                    <a:schemeClr val="accent1"/>
                  </a:gs>
                  <a:gs pos="4000">
                    <a:schemeClr val="accent1">
                      <a:lumMod val="60000"/>
                      <a:lumOff val="40000"/>
                    </a:schemeClr>
                  </a:gs>
                  <a:gs pos="33000">
                    <a:schemeClr val="accent1"/>
                  </a:gs>
                </a:gsLst>
                <a:lin ang="2700000" scaled="0"/>
                <a:tileRect/>
              </a:gradFill>
              <a:latin typeface="Arial" panose="020B0704020202020204" pitchFamily="34" charset="0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2033270"/>
            <a:ext cx="1495425" cy="27908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782300" y="1957070"/>
            <a:ext cx="1409700" cy="28670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92098" y="4263569"/>
            <a:ext cx="10807803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zh-CN" dirty="0">
                <a:latin typeface="Times New Roman Regular" panose="02020603050405020304" charset="0"/>
                <a:cs typeface="Times New Roman Regular" panose="02020603050405020304" charset="0"/>
              </a:rPr>
              <a:t>Reactive nitrogen (Nr) perturbations now profoundly affect air quality, climate systems, human health, and ecosystem integrity.</a:t>
            </a:r>
            <a:endParaRPr lang="en-US" altLang="zh-CN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dirty="0">
                <a:latin typeface="Times New Roman Regular" panose="02020603050405020304" charset="0"/>
                <a:cs typeface="Times New Roman Regular" panose="02020603050405020304" charset="0"/>
              </a:rPr>
              <a:t>Alterations to the 21st-century global nitrogen cycle constitute one of the grandest Earth-system challenges, second only to climate change.</a:t>
            </a:r>
            <a:endParaRPr lang="en-US" altLang="zh-CN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dirty="0">
                <a:latin typeface="Times New Roman Regular" panose="02020603050405020304" charset="0"/>
                <a:cs typeface="Times New Roman Regular" panose="02020603050405020304" charset="0"/>
              </a:rPr>
              <a:t>Elucidating the emissions, chemical transformation, and deposition of atmospheric Nr—and its feedback on air quality—represents a central frontier in atmospheric chemistry.</a:t>
            </a:r>
            <a:endParaRPr lang="zh-CN" altLang="en-US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182245" y="-316"/>
            <a:ext cx="10006784" cy="68862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fontScale="7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just" defTabSz="802005">
              <a:lnSpc>
                <a:spcPct val="150000"/>
              </a:lnSpc>
            </a:pPr>
            <a:r>
              <a:rPr lang="en-US" altLang="zh-CN" sz="4600" b="1" dirty="0">
                <a:latin typeface="Times New Roman Bold" panose="02020603050405020304" charset="0"/>
                <a:cs typeface="Times New Roman Bold" panose="02020603050405020304" charset="0"/>
              </a:rPr>
              <a:t> Why </a:t>
            </a:r>
            <a:r>
              <a:rPr lang="en-US" altLang="zh-CN" b="1" dirty="0">
                <a:latin typeface="Times New Roman Bold" panose="02020603050405020304" charset="0"/>
                <a:cs typeface="Times New Roman Bold" panose="02020603050405020304" charset="0"/>
              </a:rPr>
              <a:t>Reactive Nitrogen E</a:t>
            </a:r>
            <a:r>
              <a:rPr lang="en-US" altLang="zh-CN" sz="4500" b="1" dirty="0">
                <a:latin typeface="Times New Roman Bold" panose="02020603050405020304" charset="0"/>
                <a:cs typeface="Times New Roman Bold" panose="02020603050405020304" charset="0"/>
              </a:rPr>
              <a:t>missi</a:t>
            </a:r>
            <a:r>
              <a:rPr lang="en-US" altLang="zh-CN" b="1" dirty="0">
                <a:latin typeface="Times New Roman Bold" panose="02020603050405020304" charset="0"/>
                <a:cs typeface="Times New Roman Bold" panose="02020603050405020304" charset="0"/>
              </a:rPr>
              <a:t>ons Matter</a:t>
            </a:r>
            <a:endParaRPr lang="zh-CN" altLang="en-US" sz="2400" b="1" dirty="0">
              <a:ln w="0"/>
              <a:latin typeface="Times New Roman Bold" panose="02020603050405020304" charset="0"/>
              <a:ea typeface="黑体" panose="02010609060101010101" pitchFamily="49" charset="-122"/>
              <a:cs typeface="Times New Roman Bold" panose="02020603050405020304" charset="0"/>
            </a:endParaRPr>
          </a:p>
        </p:txBody>
      </p:sp>
      <p:pic>
        <p:nvPicPr>
          <p:cNvPr id="2" name="内容占位符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88390" y="1223079"/>
            <a:ext cx="3121025" cy="2343785"/>
          </a:xfrm>
          <a:prstGeom prst="rect">
            <a:avLst/>
          </a:prstGeom>
        </p:spPr>
      </p:pic>
      <p:pic>
        <p:nvPicPr>
          <p:cNvPr id="4" name="图片 3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738010" y="1147513"/>
            <a:ext cx="4165600" cy="2494915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8643620" y="3773067"/>
            <a:ext cx="216281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200" dirty="0">
                <a:latin typeface="Times New Roman Regular" panose="02020603050405020304" charset="0"/>
                <a:cs typeface="Times New Roman Regular" panose="02020603050405020304" charset="0"/>
              </a:rPr>
              <a:t>Fowler et al. (2013)</a:t>
            </a:r>
            <a:endParaRPr lang="en-US" altLang="zh-CN" sz="1200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1334" y="1223079"/>
            <a:ext cx="4190901" cy="234378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4149231" y="3773067"/>
            <a:ext cx="2873828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Times New Roman Regular" panose="02020603050405020304" charset="0"/>
                <a:cs typeface="Times New Roman Regular" panose="02020603050405020304" charset="0"/>
              </a:rPr>
              <a:t>Wang, F., et al. 2022)</a:t>
            </a:r>
            <a:endParaRPr lang="en-US" altLang="zh-CN" sz="1200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8560"/>
    </mc:Choice>
    <mc:Fallback>
      <p:transition spd="slow" advTm="5856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/>
        </p:nvSpPr>
        <p:spPr>
          <a:xfrm>
            <a:off x="200228" y="18256"/>
            <a:ext cx="10515600" cy="68862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i="0" dirty="0">
                <a:solidFill>
                  <a:srgbClr val="3C3C5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Nitrate </a:t>
            </a:r>
            <a:r>
              <a:rPr lang="en-US" altLang="zh-CN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Replacing </a:t>
            </a:r>
            <a:r>
              <a:rPr lang="en-US" altLang="zh-CN" sz="2000" b="1" i="0" dirty="0">
                <a:solidFill>
                  <a:srgbClr val="3C3C5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Sulfate as the Dominant PM₂.₅ Component</a:t>
            </a:r>
            <a:endParaRPr lang="zh-CN" altLang="en-US" sz="2665" dirty="0"/>
          </a:p>
        </p:txBody>
      </p:sp>
      <p:sp>
        <p:nvSpPr>
          <p:cNvPr id="8" name="文本框 7"/>
          <p:cNvSpPr txBox="1"/>
          <p:nvPr/>
        </p:nvSpPr>
        <p:spPr>
          <a:xfrm>
            <a:off x="460446" y="4615688"/>
            <a:ext cx="10753090" cy="175432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zh-CN" dirty="0"/>
              <a:t>Exposure to PM2.5 lead to premature deaths, cardiovascular and respiratory diseases, decreasing in PM2.5 concentrations can reduce these diseases.</a:t>
            </a:r>
            <a:endParaRPr lang="en-US" altLang="zh-CN" dirty="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zh-CN" dirty="0"/>
              <a:t>As the world’s largest Nr emitter, China has undergone a two-decade pollution evolution: from SO₂-dominated to NOₓ–NH₃-dominated regimes.</a:t>
            </a:r>
            <a:endParaRPr lang="en-US" altLang="zh-CN" dirty="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zh-CN" dirty="0"/>
              <a:t>Following substantial SO₂ abatement, particulate nitrate has become the dominant inorganic component of winter haze.</a:t>
            </a:r>
            <a:endParaRPr lang="en-US" altLang="zh-CN" dirty="0"/>
          </a:p>
        </p:txBody>
      </p:sp>
      <p:sp>
        <p:nvSpPr>
          <p:cNvPr id="14" name="文本框 13"/>
          <p:cNvSpPr txBox="1"/>
          <p:nvPr/>
        </p:nvSpPr>
        <p:spPr>
          <a:xfrm>
            <a:off x="7818847" y="4209933"/>
            <a:ext cx="12722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(</a:t>
            </a:r>
            <a:r>
              <a:rPr lang="en-US" altLang="zh-CN" sz="1200" dirty="0" err="1"/>
              <a:t>Zhai</a:t>
            </a:r>
            <a:r>
              <a:rPr lang="en-US" altLang="zh-CN" sz="1200" dirty="0"/>
              <a:t> et al., 2021)</a:t>
            </a:r>
            <a:endParaRPr lang="zh-CN" altLang="en-US" sz="1200" dirty="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9514" y="1100391"/>
            <a:ext cx="4940390" cy="299302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28" y="1326228"/>
            <a:ext cx="5897513" cy="103351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28" y="2841218"/>
            <a:ext cx="5897514" cy="1423787"/>
          </a:xfrm>
          <a:prstGeom prst="rect">
            <a:avLst/>
          </a:prstGeom>
        </p:spPr>
      </p:pic>
      <p:sp>
        <p:nvSpPr>
          <p:cNvPr id="9" name="文本框 3"/>
          <p:cNvSpPr txBox="1"/>
          <p:nvPr/>
        </p:nvSpPr>
        <p:spPr>
          <a:xfrm>
            <a:off x="2779871" y="4204677"/>
            <a:ext cx="19647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000" dirty="0"/>
              <a:t>(Zhao et al. 2024)</a:t>
            </a:r>
            <a:endParaRPr kumimoji="1" lang="zh-CN" alt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0980" y="4517390"/>
            <a:ext cx="5600065" cy="2199640"/>
          </a:xfrm>
        </p:spPr>
        <p:txBody>
          <a:bodyPr>
            <a:noAutofit/>
          </a:bodyPr>
          <a:lstStyle/>
          <a:p>
            <a:r>
              <a:rPr lang="en-US" altLang="zh-CN" sz="1800" dirty="0"/>
              <a:t>Total nitrogen deposition in the PRD is rising, with reduced nitrogen (NHₓ) now accounting for 60–70%, intensifying coastal eutrophication and biodiversity risk.</a:t>
            </a:r>
            <a:endParaRPr lang="en-US" altLang="zh-CN" sz="1800" dirty="0"/>
          </a:p>
          <a:p>
            <a:r>
              <a:rPr lang="en-US" altLang="zh-CN" sz="1800" dirty="0"/>
              <a:t>Nitrate dominates autumn–winter haze. Since SO₂ declined sharply (&gt;50%) after 2013, relative NH₃ excess has made nitrate the primary PM₂.₅ component (25–35% of PM₂.₅ mass).</a:t>
            </a:r>
            <a:endParaRPr lang="en-US" altLang="zh-CN" sz="1800" dirty="0"/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409166" y="141087"/>
            <a:ext cx="10515600" cy="870857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665" b="1" dirty="0">
                <a:latin typeface="Times New Roman Bold" panose="02020603050405020304" charset="0"/>
                <a:cs typeface="Times New Roman Bold" panose="02020603050405020304" charset="0"/>
              </a:rPr>
              <a:t> Nitrogen Cycling in the Pearl River Delta (PRD)</a:t>
            </a:r>
            <a:endParaRPr lang="en-US" altLang="zh-CN" sz="2665" b="1" dirty="0"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pic>
        <p:nvPicPr>
          <p:cNvPr id="2" name="图片 1" descr="截屏2024-08-29 上午9.32.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714" y="900474"/>
            <a:ext cx="4361815" cy="324739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196159" y="3976168"/>
            <a:ext cx="41450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Temporal variations in the percentage of SO42− , NO3− , NH4+ in PM2.5 (Adapted from Yan et al., 2020)</a:t>
            </a:r>
            <a:endParaRPr lang="zh-CN" altLang="en-US" sz="1200" dirty="0"/>
          </a:p>
        </p:txBody>
      </p:sp>
      <p:sp>
        <p:nvSpPr>
          <p:cNvPr id="25" name="文本框 24"/>
          <p:cNvSpPr txBox="1"/>
          <p:nvPr>
            <p:custDataLst>
              <p:tags r:id="rId2"/>
            </p:custDataLst>
          </p:nvPr>
        </p:nvSpPr>
        <p:spPr>
          <a:xfrm>
            <a:off x="7022465" y="1339215"/>
            <a:ext cx="4145280" cy="163004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endParaRPr lang="en-US" altLang="zh-CN" sz="2000" dirty="0"/>
          </a:p>
          <a:p>
            <a:r>
              <a:rPr lang="en-US" altLang="zh-CN" sz="2000" dirty="0"/>
              <a:t>            2NH</a:t>
            </a:r>
            <a:r>
              <a:rPr lang="en-US" altLang="zh-CN" sz="2000" baseline="-25000" dirty="0"/>
              <a:t>3</a:t>
            </a:r>
            <a:r>
              <a:rPr lang="en-US" altLang="zh-CN" sz="2000" dirty="0"/>
              <a:t>+H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SO</a:t>
            </a:r>
            <a:r>
              <a:rPr lang="en-US" altLang="zh-CN" sz="2000" baseline="-25000" dirty="0"/>
              <a:t>4</a:t>
            </a:r>
            <a:r>
              <a:rPr lang="en-US" altLang="zh-CN" sz="2000" dirty="0"/>
              <a:t>→(NH</a:t>
            </a:r>
            <a:r>
              <a:rPr lang="en-US" altLang="zh-CN" sz="2000" baseline="-25000" dirty="0"/>
              <a:t>4</a:t>
            </a:r>
            <a:r>
              <a:rPr lang="en-US" altLang="zh-CN" sz="2000" dirty="0"/>
              <a:t>)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SO</a:t>
            </a:r>
            <a:r>
              <a:rPr lang="en-US" altLang="zh-CN" sz="2000" baseline="-25000" dirty="0"/>
              <a:t>4</a:t>
            </a:r>
            <a:r>
              <a:rPr lang="en-US" altLang="zh-CN" sz="2000" dirty="0"/>
              <a:t>  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         </a:t>
            </a:r>
            <a:r>
              <a:rPr lang="zh-CN" altLang="en-US" sz="2000" dirty="0"/>
              <a:t>￼  </a:t>
            </a:r>
            <a:r>
              <a:rPr lang="en-US" altLang="zh-CN" sz="2000" dirty="0"/>
              <a:t>NH</a:t>
            </a:r>
            <a:r>
              <a:rPr lang="en-US" altLang="zh-CN" sz="2000" baseline="-25000" dirty="0"/>
              <a:t>3</a:t>
            </a:r>
            <a:r>
              <a:rPr lang="en-US" altLang="zh-CN" sz="2000" dirty="0"/>
              <a:t>+HNO</a:t>
            </a:r>
            <a:r>
              <a:rPr lang="en-US" altLang="zh-CN" sz="2000" baseline="-25000" dirty="0"/>
              <a:t>3</a:t>
            </a:r>
            <a:r>
              <a:rPr lang="en-US" altLang="zh-CN" sz="2000" dirty="0"/>
              <a:t>⇌NH</a:t>
            </a:r>
            <a:r>
              <a:rPr lang="en-US" altLang="zh-CN" sz="2000" baseline="-25000" dirty="0"/>
              <a:t>4</a:t>
            </a:r>
            <a:r>
              <a:rPr lang="en-US" altLang="zh-CN" sz="2000" dirty="0"/>
              <a:t>NO</a:t>
            </a:r>
            <a:r>
              <a:rPr lang="en-US" altLang="zh-CN" sz="2000" baseline="-25000" dirty="0"/>
              <a:t>3</a:t>
            </a:r>
            <a:endParaRPr lang="en-US" altLang="zh-CN" sz="2000" baseline="-25000" dirty="0"/>
          </a:p>
        </p:txBody>
      </p:sp>
      <p:sp>
        <p:nvSpPr>
          <p:cNvPr id="7" name="内容占位符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089650" y="3296285"/>
            <a:ext cx="6010275" cy="342138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/>
              <a:t>NH₃ is the only abundant alkaline gas in the atmosphere. It reacts with H₂SO₄ and HNO₃ to form (NH₄)₂SO₄ and NH₄NO₃, constituting major PM₂.₅ components.</a:t>
            </a:r>
            <a:endParaRPr lang="en-US" altLang="zh-CN" sz="1800" dirty="0"/>
          </a:p>
          <a:p>
            <a:r>
              <a:rPr lang="en-US" altLang="zh-CN" sz="1800" dirty="0"/>
              <a:t>SO₂ mitigation reduces sulfate, leaving surplus NH₃ available to combine with HNO₃ and forcing nitrate to become the dominant PM₂.₅ species.</a:t>
            </a:r>
            <a:endParaRPr lang="en-US" altLang="zh-CN" sz="1800" dirty="0"/>
          </a:p>
          <a:p>
            <a:r>
              <a:rPr lang="en-US" altLang="zh-CN" sz="1800" dirty="0"/>
              <a:t>Globally, NH₃ remains largely unregulated. In China, NOₓ fell ~38% during 2013–2020, yet NH₃ emissions stayed nearly flat—creating a blind spot for the next stage of PM₂.₅ governance.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" y="-109220"/>
            <a:ext cx="11538857" cy="716280"/>
          </a:xfrm>
        </p:spPr>
        <p:txBody>
          <a:bodyPr>
            <a:normAutofit/>
          </a:bodyPr>
          <a:lstStyle/>
          <a:p>
            <a:r>
              <a:rPr lang="en-US" altLang="zh-CN" sz="2000" dirty="0">
                <a:latin typeface="Times New Roman Regular" panose="02020603050405020304" charset="0"/>
                <a:cs typeface="Times New Roman Regular" panose="02020603050405020304" charset="0"/>
              </a:rPr>
              <a:t>Research Gaps</a:t>
            </a:r>
            <a:r>
              <a:rPr lang="zh-CN" altLang="en-US" sz="2000" dirty="0">
                <a:latin typeface="Times New Roman Regular" panose="02020603050405020304" charset="0"/>
                <a:cs typeface="Times New Roman Regular" panose="02020603050405020304" charset="0"/>
              </a:rPr>
              <a:t>：</a:t>
            </a:r>
            <a:r>
              <a:rPr kumimoji="1"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603050405020304" charset="0"/>
                <a:ea typeface="+mn-ea"/>
                <a:cs typeface="Times New Roman Regular" panose="02020603050405020304" charset="0"/>
                <a:sym typeface="+mn-ea"/>
              </a:rPr>
              <a:t> Critical Gaps in PRD Air Quality Management</a:t>
            </a:r>
            <a:endParaRPr lang="zh-CN" altLang="en-US" sz="2000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8930" y="4568190"/>
            <a:ext cx="11863070" cy="220027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/>
              <a:t>Geographic bias: Existing NH₃ research concentrates on the North China Plain. The PRD differs fundamentally: subtropical high temperatures and humidity drive extremely active photochemistry and rapid secondary aerosol formation. Yet systematic long-term NH₃ observations in the PRD are virtually absent.</a:t>
            </a:r>
            <a:endParaRPr lang="en-US" altLang="zh-CN" sz="1400" dirty="0"/>
          </a:p>
          <a:p>
            <a:pPr>
              <a:lnSpc>
                <a:spcPct val="120000"/>
              </a:lnSpc>
            </a:pPr>
            <a:r>
              <a:rPr lang="en-US" altLang="zh-CN" sz="1400" dirty="0"/>
              <a:t>Composition shift: Although PRD PM₂.₅ mass meets standards, its composition has shifted dramatically. Sulfate has fallen, but nitrate now drives autumn–winter haze. The specific mechanism by which excess NH₃ fuels this nitrate enhancement remains unresolved.</a:t>
            </a:r>
            <a:endParaRPr lang="en-US" altLang="zh-CN" sz="1400" dirty="0"/>
          </a:p>
          <a:p>
            <a:pPr>
              <a:lnSpc>
                <a:spcPct val="120000"/>
              </a:lnSpc>
            </a:pPr>
            <a:r>
              <a:rPr lang="en-US" altLang="zh-CN" sz="1400" dirty="0"/>
              <a:t>O₃–PM₂.₅ ternary coupling: Despite deep NOₓ cuts, O₃ continues to rise. The ternary coupling mechanism of NH₃–NOₓ–</a:t>
            </a:r>
            <a:r>
              <a:rPr lang="en-US" altLang="zh-CN" sz="1400" dirty="0">
                <a:solidFill>
                  <a:schemeClr val="accent1"/>
                </a:solidFill>
              </a:rPr>
              <a:t>VOC</a:t>
            </a:r>
            <a:r>
              <a:rPr lang="en-US" altLang="zh-CN" sz="1400" dirty="0"/>
              <a:t>s under the latest emission trends is still poorly understood.</a:t>
            </a:r>
            <a:endParaRPr lang="zh-CN" altLang="en-US" sz="1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998" y="684847"/>
            <a:ext cx="5515610" cy="32099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40715" y="3964940"/>
            <a:ext cx="5080000" cy="36830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900" b="1">
                <a:solidFill>
                  <a:srgbClr val="000000"/>
                </a:solidFill>
                <a:latin typeface="Times New Roman" panose="02020603050405020304" pitchFamily="18" charset="0"/>
                <a:ea typeface="Whitney-Semibold"/>
                <a:cs typeface="Times New Roman" panose="02020603050405020304" pitchFamily="18" charset="0"/>
              </a:rPr>
              <a:t>Spatial distribution of measured (filled circles) and modeled (gridded background) 3-year (2013-2015) averaged summer mean  and winter mean nitrate wet deposition fluxes (Zhai et al., 2021).</a:t>
            </a:r>
            <a:endParaRPr lang="en-US" altLang="zh-CN" sz="900" b="1">
              <a:solidFill>
                <a:srgbClr val="000000"/>
              </a:solidFill>
              <a:latin typeface="Times New Roman" panose="02020603050405020304" pitchFamily="18" charset="0"/>
              <a:ea typeface="Whitney-Semibold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814570" y="504825"/>
            <a:ext cx="728789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dirty="0">
                <a:solidFill>
                  <a:srgbClr val="3C3C58"/>
                </a:solidFill>
                <a:latin typeface="Segoe UI" panose="020B0502040204020203"/>
                <a:ea typeface="Segoe UI" panose="020B0502040204020203"/>
                <a:sym typeface="+mn-ea"/>
              </a:rPr>
              <a:t>comparison between </a:t>
            </a:r>
            <a:r>
              <a:rPr lang="en-US" altLang="zh-CN" sz="1600" dirty="0">
                <a:solidFill>
                  <a:srgbClr val="3C3C58"/>
                </a:solidFill>
                <a:latin typeface="Segoe UI" panose="020B0502040204020203"/>
                <a:ea typeface="Segoe UI" panose="020B0502040204020203"/>
                <a:sym typeface="+mn-ea"/>
              </a:rPr>
              <a:t>N</a:t>
            </a:r>
            <a:r>
              <a:rPr lang="zh-CN" altLang="en-US" sz="1600" dirty="0">
                <a:solidFill>
                  <a:srgbClr val="3C3C58"/>
                </a:solidFill>
                <a:latin typeface="Segoe UI" panose="020B0502040204020203"/>
                <a:ea typeface="Segoe UI" panose="020B0502040204020203"/>
                <a:sym typeface="+mn-ea"/>
              </a:rPr>
              <a:t>orth China </a:t>
            </a:r>
            <a:r>
              <a:rPr lang="en-US" altLang="zh-CN" sz="1600" dirty="0">
                <a:solidFill>
                  <a:srgbClr val="3C3C58"/>
                </a:solidFill>
                <a:latin typeface="Segoe UI" panose="020B0502040204020203"/>
                <a:ea typeface="Segoe UI" panose="020B0502040204020203"/>
                <a:sym typeface="+mn-ea"/>
              </a:rPr>
              <a:t>P</a:t>
            </a:r>
            <a:r>
              <a:rPr lang="zh-CN" altLang="en-US" sz="1600" dirty="0">
                <a:solidFill>
                  <a:srgbClr val="3C3C58"/>
                </a:solidFill>
                <a:latin typeface="Segoe UI" panose="020B0502040204020203"/>
                <a:ea typeface="Segoe UI" panose="020B0502040204020203"/>
                <a:sym typeface="+mn-ea"/>
              </a:rPr>
              <a:t>lain (NCP) and Pearl </a:t>
            </a:r>
            <a:r>
              <a:rPr lang="en-US" altLang="zh-CN" sz="1600" dirty="0">
                <a:solidFill>
                  <a:srgbClr val="3C3C58"/>
                </a:solidFill>
                <a:latin typeface="Segoe UI" panose="020B0502040204020203"/>
                <a:ea typeface="Segoe UI" panose="020B0502040204020203"/>
                <a:sym typeface="+mn-ea"/>
              </a:rPr>
              <a:t>R</a:t>
            </a:r>
            <a:r>
              <a:rPr lang="zh-CN" altLang="en-US" sz="1600" dirty="0">
                <a:solidFill>
                  <a:srgbClr val="3C3C58"/>
                </a:solidFill>
                <a:latin typeface="Segoe UI" panose="020B0502040204020203"/>
                <a:ea typeface="Segoe UI" panose="020B0502040204020203"/>
                <a:sym typeface="+mn-ea"/>
              </a:rPr>
              <a:t>iver Delta (PRD)</a:t>
            </a:r>
            <a:endParaRPr lang="zh-CN" altLang="en-US" sz="1600" dirty="0">
              <a:solidFill>
                <a:srgbClr val="3C3C58"/>
              </a:solidFill>
              <a:latin typeface="Segoe UI" panose="020B0502040204020203"/>
              <a:ea typeface="Segoe UI" panose="020B0502040204020203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121400" y="1114425"/>
            <a:ext cx="5727700" cy="23145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109220"/>
            <a:ext cx="4580890" cy="716280"/>
          </a:xfrm>
        </p:spPr>
        <p:txBody>
          <a:bodyPr>
            <a:normAutofit/>
          </a:bodyPr>
          <a:lstStyle/>
          <a:p>
            <a:r>
              <a:rPr lang="en-US" altLang="zh-CN" sz="2200" dirty="0">
                <a:latin typeface="Times New Roman Regular" panose="02020603050405020304" charset="0"/>
                <a:cs typeface="Times New Roman Regular" panose="02020603050405020304" charset="0"/>
              </a:rPr>
              <a:t>Research Objectives</a:t>
            </a:r>
            <a:endParaRPr lang="en-US" altLang="zh-CN" sz="2200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815419" y="866391"/>
            <a:ext cx="867841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     </a:t>
            </a:r>
            <a:r>
              <a:rPr lang="en-US" altLang="zh-CN" sz="2000" dirty="0"/>
              <a:t>To understand the chemical evolution of atmospheric reactive nitrogen in the PRD and its impacts on PM₂.₅ composition, this dissertation is structured around four pillars:</a:t>
            </a:r>
            <a:endParaRPr lang="zh-CN" altLang="en-US" sz="2000" dirty="0"/>
          </a:p>
        </p:txBody>
      </p:sp>
      <p:sp>
        <p:nvSpPr>
          <p:cNvPr id="7" name="文本框 6"/>
          <p:cNvSpPr txBox="1"/>
          <p:nvPr/>
        </p:nvSpPr>
        <p:spPr>
          <a:xfrm>
            <a:off x="1839686" y="2132265"/>
            <a:ext cx="8512628" cy="3415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zh-CN" sz="2400" dirty="0"/>
              <a:t>To Detect the long-term evolution, spatial differentiation, and structural transitions of anthropogenic SO₂, NOₓ, and NH₃ emissions in the PRD.</a:t>
            </a:r>
            <a:endParaRPr lang="en-US" altLang="zh-CN" sz="2400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sz="2400" dirty="0"/>
              <a:t>To demonstrate how changes in reactive nitrogen species affect PM₂.₅ chemical composition.</a:t>
            </a:r>
            <a:endParaRPr lang="en-US" altLang="zh-CN" sz="2400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sz="2400" dirty="0"/>
              <a:t>To evaluate atmospheric nitrogen deposition fluxes and their ecological/environmental effects in the PRD.</a:t>
            </a:r>
            <a:endParaRPr lang="en-US" altLang="zh-CN" sz="2400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sz="2400" dirty="0"/>
              <a:t>To project the future emission-reduction scenarios and synergistic PM₂</a:t>
            </a:r>
            <a:r>
              <a:rPr lang="en-US" altLang="zh-CN" sz="2400" dirty="0">
                <a:sym typeface="+mn-ea"/>
              </a:rPr>
              <a:t>.</a:t>
            </a:r>
            <a:r>
              <a:rPr lang="en-US" altLang="zh-CN" sz="2400" dirty="0"/>
              <a:t>₅–O₃ control pathways.</a:t>
            </a:r>
            <a:endParaRPr lang="zh-CN" altLang="en-US" sz="2400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40831" y="5850117"/>
            <a:ext cx="2953385" cy="31877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l"/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Study area from Li et al., 2019.</a:t>
            </a:r>
            <a:endParaRPr lang="en-US" altLang="zh-CN" sz="1600">
              <a:solidFill>
                <a:schemeClr val="tx1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342417" y="970189"/>
            <a:ext cx="5598220" cy="4745506"/>
            <a:chOff x="526" y="1511"/>
            <a:chExt cx="9952" cy="8508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26" y="1511"/>
              <a:ext cx="9952" cy="8508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7014" y="7175"/>
              <a:ext cx="526" cy="424"/>
            </a:xfrm>
            <a:prstGeom prst="rect">
              <a:avLst/>
            </a:prstGeom>
            <a:noFill/>
            <a:ln w="41275" cmpd="sng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7899" y="5651"/>
              <a:ext cx="541" cy="469"/>
            </a:xfrm>
            <a:prstGeom prst="rect">
              <a:avLst/>
            </a:prstGeom>
            <a:noFill/>
            <a:ln w="41275" cmpd="sng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7358" y="4308"/>
              <a:ext cx="540" cy="636"/>
            </a:xfrm>
            <a:prstGeom prst="rect">
              <a:avLst/>
            </a:prstGeom>
            <a:noFill/>
            <a:ln w="41275" cmpd="sng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0" y="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kumimoji="1" lang="en-US" altLang="zh-CN" sz="2400" dirty="0">
                <a:sym typeface="+mn-ea"/>
              </a:rPr>
              <a:t>Data and Methodology-Study Area</a:t>
            </a:r>
            <a:endParaRPr kumimoji="1" lang="en-US" altLang="zh-CN" sz="2400" dirty="0">
              <a:sym typeface="+mn-ea"/>
            </a:endParaRPr>
          </a:p>
        </p:txBody>
      </p:sp>
      <p:graphicFrame>
        <p:nvGraphicFramePr>
          <p:cNvPr id="14" name="表格 13"/>
          <p:cNvGraphicFramePr/>
          <p:nvPr>
            <p:custDataLst>
              <p:tags r:id="rId2"/>
            </p:custDataLst>
          </p:nvPr>
        </p:nvGraphicFramePr>
        <p:xfrm>
          <a:off x="6357002" y="3710940"/>
          <a:ext cx="5217160" cy="2354580"/>
        </p:xfrm>
        <a:graphic>
          <a:graphicData uri="http://schemas.openxmlformats.org/drawingml/2006/table">
            <a:tbl>
              <a:tblPr/>
              <a:tblGrid>
                <a:gridCol w="1395943"/>
                <a:gridCol w="1212637"/>
                <a:gridCol w="1443014"/>
                <a:gridCol w="1165566"/>
              </a:tblGrid>
              <a:tr h="495300">
                <a:tc>
                  <a:txBody>
                    <a:bodyPr/>
                    <a:lstStyle/>
                    <a:p>
                      <a:pPr marL="0" indent="0" algn="l"/>
                      <a:r>
                        <a:rPr lang="en-US" altLang="zh-CN" sz="1000" b="0" i="0" dirty="0">
                          <a:solidFill>
                            <a:srgbClr val="3C3C58"/>
                          </a:solidFill>
                          <a:latin typeface="Times New Roman" panose="02020603050405020304" pitchFamily="18" charset="0"/>
                          <a:ea typeface="Segoe UI" panose="020B0502040204020203"/>
                          <a:cs typeface="Times New Roman" panose="02020603050405020304" pitchFamily="18" charset="0"/>
                        </a:rPr>
                        <a:t>Feature</a:t>
                      </a:r>
                      <a:endParaRPr lang="zh-CN" altLang="en-US" sz="1000" b="0" i="0" dirty="0">
                        <a:solidFill>
                          <a:srgbClr val="3C3C58"/>
                        </a:solidFill>
                        <a:latin typeface="Times New Roman" panose="02020603050405020304" pitchFamily="18" charset="0"/>
                        <a:ea typeface="Segoe UI" panose="020B0502040204020203"/>
                        <a:cs typeface="Times New Roman" panose="02020603050405020304" pitchFamily="18" charset="0"/>
                      </a:endParaRPr>
                    </a:p>
                  </a:txBody>
                  <a:tcPr marL="133350" marR="133350" marT="80010" marB="80010" anchor="ctr">
                    <a:lnL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altLang="zh-CN" sz="1000" b="0" i="0">
                          <a:solidFill>
                            <a:srgbClr val="3C3C58"/>
                          </a:solidFill>
                          <a:latin typeface="Times New Roman" panose="02020603050405020304" pitchFamily="18" charset="0"/>
                          <a:ea typeface="Segoe UI" panose="020B0502040204020203"/>
                          <a:cs typeface="Times New Roman" panose="02020603050405020304" pitchFamily="18" charset="0"/>
                        </a:rPr>
                        <a:t>Pearl River Delta (PRD)</a:t>
                      </a:r>
                      <a:endParaRPr lang="en-US" altLang="zh-CN" sz="1000" b="0" i="0">
                        <a:solidFill>
                          <a:srgbClr val="3C3C58"/>
                        </a:solidFill>
                        <a:latin typeface="Times New Roman" panose="02020603050405020304" pitchFamily="18" charset="0"/>
                        <a:ea typeface="Segoe UI" panose="020B0502040204020203"/>
                        <a:cs typeface="Times New Roman" panose="02020603050405020304" pitchFamily="18" charset="0"/>
                      </a:endParaRPr>
                    </a:p>
                  </a:txBody>
                  <a:tcPr marL="133350" marR="133350" marT="80010" marB="80010" anchor="ctr">
                    <a:lnL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altLang="zh-CN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Yangtze River Delta (YRD)</a:t>
                      </a:r>
                      <a:endParaRPr lang="zh-CN" altLang="en-US" sz="1000" b="0" i="0">
                        <a:solidFill>
                          <a:srgbClr val="3C3C58"/>
                        </a:solidFill>
                        <a:latin typeface="Times New Roman" panose="02020603050405020304" pitchFamily="18" charset="0"/>
                        <a:ea typeface="Segoe UI" panose="020B0502040204020203"/>
                        <a:cs typeface="Times New Roman" panose="02020603050405020304" pitchFamily="18" charset="0"/>
                      </a:endParaRPr>
                    </a:p>
                  </a:txBody>
                  <a:tcPr marL="133350" marR="133350" marT="80010" marB="80010" anchor="ctr">
                    <a:lnL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altLang="zh-CN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Beijing–Tianjin–Hebei (BTH)</a:t>
                      </a:r>
                      <a:endParaRPr lang="en-US" altLang="zh-CN" sz="1000" b="0" i="0">
                        <a:solidFill>
                          <a:srgbClr val="3C3C58"/>
                        </a:solidFill>
                        <a:latin typeface="Times New Roman" panose="02020603050405020304" pitchFamily="18" charset="0"/>
                        <a:ea typeface="Segoe UI" panose="020B0502040204020203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133350" marR="133350" marT="80010" marB="80010" anchor="ctr">
                    <a:lnL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L="0" indent="0" algn="l"/>
                      <a:r>
                        <a:rPr lang="en-US" altLang="zh-CN" sz="1000" b="0" i="0" dirty="0">
                          <a:solidFill>
                            <a:srgbClr val="3C3C58"/>
                          </a:solidFill>
                          <a:latin typeface="Times New Roman" panose="02020603050405020304" pitchFamily="18" charset="0"/>
                          <a:ea typeface="Segoe UI" panose="020B0502040204020203"/>
                          <a:cs typeface="Times New Roman" panose="02020603050405020304" pitchFamily="18" charset="0"/>
                        </a:rPr>
                        <a:t>geographical scope</a:t>
                      </a:r>
                      <a:endParaRPr lang="zh-CN" altLang="en-US" sz="1000" b="0" i="0" dirty="0">
                        <a:solidFill>
                          <a:srgbClr val="3C3C58"/>
                        </a:solidFill>
                        <a:latin typeface="Times New Roman" panose="02020603050405020304" pitchFamily="18" charset="0"/>
                        <a:ea typeface="Segoe UI" panose="020B0502040204020203"/>
                        <a:cs typeface="Times New Roman" panose="02020603050405020304" pitchFamily="18" charset="0"/>
                      </a:endParaRPr>
                    </a:p>
                  </a:txBody>
                  <a:tcPr marL="133350" marR="133350" marT="80010" marB="80010" anchor="ctr">
                    <a:lnL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altLang="zh-CN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21.5°–24°N, 112°–115.5°E</a:t>
                      </a:r>
                      <a:endParaRPr lang="en-US" altLang="zh-CN" sz="1000" b="0" i="0">
                        <a:solidFill>
                          <a:srgbClr val="3C3C58"/>
                        </a:solidFill>
                        <a:latin typeface="Times New Roman" panose="02020603050405020304" pitchFamily="18" charset="0"/>
                        <a:ea typeface="Segoe UI" panose="020B0502040204020203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133350" marR="133350" marT="80010" marB="80010" anchor="ctr">
                    <a:lnL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altLang="zh-CN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30°–33°N, 118°–122°E</a:t>
                      </a:r>
                      <a:endParaRPr lang="en-US" altLang="zh-CN" sz="1000" b="0" i="0">
                        <a:solidFill>
                          <a:srgbClr val="3C3C58"/>
                        </a:solidFill>
                        <a:latin typeface="Times New Roman" panose="02020603050405020304" pitchFamily="18" charset="0"/>
                        <a:ea typeface="Segoe UI" panose="020B0502040204020203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133350" marR="133350" marT="80010" marB="80010" anchor="ctr">
                    <a:lnL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altLang="zh-CN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37°–41°N, 114°–118°E</a:t>
                      </a:r>
                      <a:endParaRPr lang="en-US" altLang="zh-CN" sz="1000" b="0" i="0">
                        <a:solidFill>
                          <a:srgbClr val="3C3C58"/>
                        </a:solidFill>
                        <a:latin typeface="Times New Roman" panose="02020603050405020304" pitchFamily="18" charset="0"/>
                        <a:ea typeface="Segoe UI" panose="020B0502040204020203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133350" marR="133350" marT="80010" marB="80010" anchor="ctr">
                    <a:lnL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L="0" indent="0" algn="l"/>
                      <a:r>
                        <a:rPr lang="en-US" altLang="zh-CN" sz="1000" b="0" i="0" dirty="0">
                          <a:solidFill>
                            <a:srgbClr val="3C3C58"/>
                          </a:solidFill>
                          <a:latin typeface="Times New Roman" panose="02020603050405020304" pitchFamily="18" charset="0"/>
                          <a:ea typeface="Segoe UI" panose="020B0502040204020203"/>
                          <a:cs typeface="Times New Roman" panose="02020603050405020304" pitchFamily="18" charset="0"/>
                        </a:rPr>
                        <a:t>Climate</a:t>
                      </a:r>
                      <a:r>
                        <a:rPr lang="zh-CN" altLang="en-US" sz="1000" b="0" i="0" dirty="0">
                          <a:solidFill>
                            <a:srgbClr val="3C3C58"/>
                          </a:solidFill>
                          <a:latin typeface="Times New Roman" panose="02020603050405020304" pitchFamily="18" charset="0"/>
                          <a:ea typeface="Segoe UI" panose="020B0502040204020203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000" b="0" i="0" dirty="0">
                          <a:solidFill>
                            <a:srgbClr val="3C3C58"/>
                          </a:solidFill>
                          <a:latin typeface="Times New Roman" panose="02020603050405020304" pitchFamily="18" charset="0"/>
                          <a:ea typeface="Segoe UI" panose="020B0502040204020203"/>
                          <a:cs typeface="Times New Roman" panose="02020603050405020304" pitchFamily="18" charset="0"/>
                        </a:rPr>
                        <a:t>Type</a:t>
                      </a:r>
                      <a:endParaRPr lang="zh-CN" altLang="en-US" sz="1000" b="0" i="0" dirty="0">
                        <a:solidFill>
                          <a:srgbClr val="3C3C58"/>
                        </a:solidFill>
                        <a:latin typeface="Times New Roman" panose="02020603050405020304" pitchFamily="18" charset="0"/>
                        <a:ea typeface="Segoe UI" panose="020B0502040204020203"/>
                        <a:cs typeface="Times New Roman" panose="02020603050405020304" pitchFamily="18" charset="0"/>
                      </a:endParaRPr>
                    </a:p>
                  </a:txBody>
                  <a:tcPr marL="133350" marR="133350" marT="80010" marB="80010" anchor="ctr">
                    <a:lnL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altLang="zh-CN" sz="1000" b="0" i="0" dirty="0">
                          <a:solidFill>
                            <a:srgbClr val="3C3C58"/>
                          </a:solidFill>
                          <a:latin typeface="Times New Roman" panose="02020603050405020304" pitchFamily="18" charset="0"/>
                          <a:ea typeface="Segoe UI" panose="020B0502040204020203"/>
                          <a:cs typeface="Times New Roman" panose="02020603050405020304" pitchFamily="18" charset="0"/>
                        </a:rPr>
                        <a:t>Subtropical monsoon climate</a:t>
                      </a:r>
                      <a:endParaRPr lang="zh-CN" altLang="en-US" sz="1000" b="0" i="0" dirty="0">
                        <a:solidFill>
                          <a:srgbClr val="3C3C58"/>
                        </a:solidFill>
                        <a:latin typeface="Times New Roman" panose="02020603050405020304" pitchFamily="18" charset="0"/>
                        <a:ea typeface="Segoe UI" panose="020B0502040204020203"/>
                        <a:cs typeface="Times New Roman" panose="02020603050405020304" pitchFamily="18" charset="0"/>
                      </a:endParaRPr>
                    </a:p>
                  </a:txBody>
                  <a:tcPr marL="133350" marR="133350" marT="80010" marB="80010" anchor="ctr">
                    <a:lnL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64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i="0" dirty="0">
                          <a:solidFill>
                            <a:srgbClr val="3C3C58"/>
                          </a:solidFill>
                          <a:latin typeface="Times New Roman" panose="02020603050405020304" pitchFamily="18" charset="0"/>
                          <a:ea typeface="Segoe UI" panose="020B0502040204020203"/>
                          <a:cs typeface="Times New Roman" panose="02020603050405020304" pitchFamily="18" charset="0"/>
                        </a:rPr>
                        <a:t>Subtropical monsoon climate</a:t>
                      </a:r>
                      <a:endParaRPr lang="zh-CN" altLang="en-US" sz="1000" b="0" i="0" dirty="0">
                        <a:solidFill>
                          <a:srgbClr val="3C3C58"/>
                        </a:solidFill>
                        <a:latin typeface="Times New Roman" panose="02020603050405020304" pitchFamily="18" charset="0"/>
                        <a:ea typeface="Segoe UI" panose="020B0502040204020203"/>
                        <a:cs typeface="Times New Roman" panose="02020603050405020304" pitchFamily="18" charset="0"/>
                      </a:endParaRPr>
                    </a:p>
                  </a:txBody>
                  <a:tcPr marL="133350" marR="133350" marT="80010" marB="80010" anchor="ctr">
                    <a:lnL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altLang="zh-CN" sz="1000" b="0" i="0" dirty="0">
                          <a:solidFill>
                            <a:srgbClr val="3C3C58"/>
                          </a:solidFill>
                          <a:latin typeface="Times New Roman" panose="02020603050405020304" pitchFamily="18" charset="0"/>
                          <a:ea typeface="Segoe UI" panose="020B0502040204020203"/>
                          <a:cs typeface="Times New Roman" panose="02020603050405020304" pitchFamily="18" charset="0"/>
                        </a:rPr>
                        <a:t>Temperate monsoon climate</a:t>
                      </a:r>
                      <a:endParaRPr lang="zh-CN" altLang="en-US" sz="1000" b="0" i="0" dirty="0">
                        <a:solidFill>
                          <a:srgbClr val="3C3C58"/>
                        </a:solidFill>
                        <a:latin typeface="Times New Roman" panose="02020603050405020304" pitchFamily="18" charset="0"/>
                        <a:ea typeface="Segoe UI" panose="020B0502040204020203"/>
                        <a:cs typeface="Times New Roman" panose="02020603050405020304" pitchFamily="18" charset="0"/>
                      </a:endParaRPr>
                    </a:p>
                  </a:txBody>
                  <a:tcPr marL="133350" marR="133350" marT="80010" marB="80010" anchor="ctr">
                    <a:lnL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L="0" indent="0" algn="l"/>
                      <a:r>
                        <a:rPr lang="en-US" altLang="zh-CN" sz="1000" b="0" i="0" dirty="0">
                          <a:solidFill>
                            <a:srgbClr val="3C3C58"/>
                          </a:solidFill>
                          <a:latin typeface="Times New Roman" panose="02020603050405020304" pitchFamily="18" charset="0"/>
                          <a:ea typeface="Segoe UI" panose="020B0502040204020203"/>
                          <a:cs typeface="Times New Roman" panose="02020603050405020304" pitchFamily="18" charset="0"/>
                        </a:rPr>
                        <a:t>Annual</a:t>
                      </a:r>
                      <a:r>
                        <a:rPr lang="zh-CN" altLang="en-US" sz="1000" b="0" i="0" dirty="0">
                          <a:solidFill>
                            <a:srgbClr val="3C3C58"/>
                          </a:solidFill>
                          <a:latin typeface="Times New Roman" panose="02020603050405020304" pitchFamily="18" charset="0"/>
                          <a:ea typeface="Segoe UI" panose="020B0502040204020203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000" b="0" i="0" dirty="0" err="1">
                          <a:solidFill>
                            <a:srgbClr val="3C3C58"/>
                          </a:solidFill>
                          <a:latin typeface="Times New Roman" panose="02020603050405020304" pitchFamily="18" charset="0"/>
                          <a:ea typeface="Segoe UI" panose="020B0502040204020203"/>
                          <a:cs typeface="Times New Roman" panose="02020603050405020304" pitchFamily="18" charset="0"/>
                        </a:rPr>
                        <a:t>Temperatur</a:t>
                      </a:r>
                      <a:r>
                        <a:rPr lang="zh-CN" altLang="en-US" sz="1000" b="0" i="0" dirty="0">
                          <a:solidFill>
                            <a:srgbClr val="3C3C58"/>
                          </a:solidFill>
                          <a:latin typeface="Times New Roman" panose="02020603050405020304" pitchFamily="18" charset="0"/>
                          <a:ea typeface="Segoe UI" panose="020B0502040204020203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000" b="0" i="0" dirty="0">
                          <a:solidFill>
                            <a:srgbClr val="3C3C58"/>
                          </a:solidFill>
                          <a:latin typeface="Times New Roman" panose="02020603050405020304" pitchFamily="18" charset="0"/>
                          <a:ea typeface="Segoe UI" panose="020B0502040204020203"/>
                          <a:cs typeface="Times New Roman" panose="02020603050405020304" pitchFamily="18" charset="0"/>
                        </a:rPr>
                        <a:t>°C</a:t>
                      </a:r>
                      <a:r>
                        <a:rPr lang="zh-CN" altLang="en-US" sz="1000" b="0" i="0" dirty="0">
                          <a:solidFill>
                            <a:srgbClr val="3C3C58"/>
                          </a:solidFill>
                          <a:latin typeface="Times New Roman" panose="02020603050405020304" pitchFamily="18" charset="0"/>
                          <a:ea typeface="Segoe UI" panose="020B0502040204020203"/>
                          <a:cs typeface="Times New Roman" panose="02020603050405020304" pitchFamily="18" charset="0"/>
                        </a:rPr>
                        <a:t>）</a:t>
                      </a:r>
                      <a:endParaRPr lang="zh-CN" altLang="en-US" sz="1000" b="0" i="0" dirty="0">
                        <a:solidFill>
                          <a:srgbClr val="3C3C58"/>
                        </a:solidFill>
                        <a:latin typeface="Times New Roman" panose="02020603050405020304" pitchFamily="18" charset="0"/>
                        <a:ea typeface="Segoe UI" panose="020B0502040204020203"/>
                        <a:cs typeface="Times New Roman" panose="02020603050405020304" pitchFamily="18" charset="0"/>
                      </a:endParaRPr>
                    </a:p>
                  </a:txBody>
                  <a:tcPr marL="133350" marR="133350" marT="80010" marB="80010" anchor="ctr">
                    <a:lnL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altLang="zh-CN" sz="1000" b="0" i="0" dirty="0">
                          <a:solidFill>
                            <a:srgbClr val="3C3C58"/>
                          </a:solidFill>
                          <a:latin typeface="Times New Roman" panose="02020603050405020304" pitchFamily="18" charset="0"/>
                          <a:ea typeface="Segoe UI" panose="020B0502040204020203"/>
                          <a:cs typeface="Times New Roman" panose="02020603050405020304" pitchFamily="18" charset="0"/>
                        </a:rPr>
                        <a:t>22–23</a:t>
                      </a:r>
                      <a:endParaRPr lang="en-US" altLang="zh-CN" sz="1000" b="0" i="0" dirty="0">
                        <a:solidFill>
                          <a:srgbClr val="3C3C58"/>
                        </a:solidFill>
                        <a:latin typeface="Times New Roman" panose="02020603050405020304" pitchFamily="18" charset="0"/>
                        <a:ea typeface="Segoe UI" panose="020B0502040204020203"/>
                        <a:cs typeface="Times New Roman" panose="02020603050405020304" pitchFamily="18" charset="0"/>
                      </a:endParaRPr>
                    </a:p>
                  </a:txBody>
                  <a:tcPr marL="133350" marR="133350" marT="80010" marB="80010" anchor="ctr">
                    <a:lnL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altLang="zh-CN" sz="1000" b="0" i="0">
                          <a:solidFill>
                            <a:srgbClr val="3C3C58"/>
                          </a:solidFill>
                          <a:latin typeface="Times New Roman" panose="02020603050405020304" pitchFamily="18" charset="0"/>
                          <a:ea typeface="Segoe UI" panose="020B0502040204020203"/>
                          <a:cs typeface="Times New Roman" panose="02020603050405020304" pitchFamily="18" charset="0"/>
                        </a:rPr>
                        <a:t>16–18</a:t>
                      </a:r>
                      <a:endParaRPr lang="en-US" altLang="zh-CN" sz="1000" b="0" i="0">
                        <a:solidFill>
                          <a:srgbClr val="3C3C58"/>
                        </a:solidFill>
                        <a:latin typeface="Times New Roman" panose="02020603050405020304" pitchFamily="18" charset="0"/>
                        <a:ea typeface="Segoe UI" panose="020B0502040204020203"/>
                        <a:cs typeface="Times New Roman" panose="02020603050405020304" pitchFamily="18" charset="0"/>
                      </a:endParaRPr>
                    </a:p>
                  </a:txBody>
                  <a:tcPr marL="133350" marR="133350" marT="80010" marB="80010" anchor="ctr">
                    <a:lnL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altLang="zh-CN" sz="1000" b="0" i="0">
                          <a:solidFill>
                            <a:srgbClr val="3C3C58"/>
                          </a:solidFill>
                          <a:latin typeface="Times New Roman" panose="02020603050405020304" pitchFamily="18" charset="0"/>
                          <a:ea typeface="Segoe UI" panose="020B0502040204020203"/>
                          <a:cs typeface="Times New Roman" panose="02020603050405020304" pitchFamily="18" charset="0"/>
                        </a:rPr>
                        <a:t>12–14</a:t>
                      </a:r>
                      <a:endParaRPr lang="en-US" altLang="zh-CN" sz="1000" b="0" i="0">
                        <a:solidFill>
                          <a:srgbClr val="3C3C58"/>
                        </a:solidFill>
                        <a:latin typeface="Times New Roman" panose="02020603050405020304" pitchFamily="18" charset="0"/>
                        <a:ea typeface="Segoe UI" panose="020B0502040204020203"/>
                        <a:cs typeface="Times New Roman" panose="02020603050405020304" pitchFamily="18" charset="0"/>
                      </a:endParaRPr>
                    </a:p>
                  </a:txBody>
                  <a:tcPr marL="133350" marR="133350" marT="80010" marB="80010" anchor="ctr">
                    <a:lnL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7362">
                <a:tc>
                  <a:txBody>
                    <a:bodyPr/>
                    <a:lstStyle/>
                    <a:p>
                      <a:pPr marL="0" indent="0" algn="l"/>
                      <a:r>
                        <a:rPr lang="en-US" altLang="zh-CN" sz="1000" b="0" i="0" dirty="0">
                          <a:solidFill>
                            <a:srgbClr val="3C3C58"/>
                          </a:solidFill>
                          <a:latin typeface="Times New Roman" panose="02020603050405020304" pitchFamily="18" charset="0"/>
                          <a:ea typeface="Segoe UI" panose="020B0502040204020203"/>
                          <a:cs typeface="Times New Roman" panose="02020603050405020304" pitchFamily="18" charset="0"/>
                        </a:rPr>
                        <a:t>Annual</a:t>
                      </a:r>
                      <a:r>
                        <a:rPr lang="zh-CN" altLang="en-US" sz="1000" b="0" i="0" dirty="0">
                          <a:solidFill>
                            <a:srgbClr val="3C3C58"/>
                          </a:solidFill>
                          <a:latin typeface="Times New Roman" panose="02020603050405020304" pitchFamily="18" charset="0"/>
                          <a:ea typeface="Segoe UI" panose="020B0502040204020203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000" b="0" i="0" dirty="0" err="1">
                          <a:solidFill>
                            <a:srgbClr val="3C3C58"/>
                          </a:solidFill>
                          <a:latin typeface="Times New Roman" panose="02020603050405020304" pitchFamily="18" charset="0"/>
                          <a:ea typeface="Segoe UI" panose="020B0502040204020203"/>
                          <a:cs typeface="Times New Roman" panose="02020603050405020304" pitchFamily="18" charset="0"/>
                        </a:rPr>
                        <a:t>Precipitatio</a:t>
                      </a:r>
                      <a:r>
                        <a:rPr lang="zh-CN" altLang="en-US" sz="1000" b="0" i="0" dirty="0">
                          <a:solidFill>
                            <a:srgbClr val="3C3C58"/>
                          </a:solidFill>
                          <a:latin typeface="Times New Roman" panose="02020603050405020304" pitchFamily="18" charset="0"/>
                          <a:ea typeface="Segoe UI" panose="020B0502040204020203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000" b="0" i="0" dirty="0">
                          <a:solidFill>
                            <a:srgbClr val="3C3C58"/>
                          </a:solidFill>
                          <a:latin typeface="Times New Roman" panose="02020603050405020304" pitchFamily="18" charset="0"/>
                          <a:ea typeface="Segoe UI" panose="020B0502040204020203"/>
                          <a:cs typeface="Times New Roman" panose="02020603050405020304" pitchFamily="18" charset="0"/>
                        </a:rPr>
                        <a:t>mm</a:t>
                      </a:r>
                      <a:r>
                        <a:rPr lang="zh-CN" altLang="en-US" sz="1000" b="0" i="0" dirty="0">
                          <a:solidFill>
                            <a:srgbClr val="3C3C58"/>
                          </a:solidFill>
                          <a:latin typeface="Times New Roman" panose="02020603050405020304" pitchFamily="18" charset="0"/>
                          <a:ea typeface="Segoe UI" panose="020B0502040204020203"/>
                          <a:cs typeface="Times New Roman" panose="02020603050405020304" pitchFamily="18" charset="0"/>
                        </a:rPr>
                        <a:t>）</a:t>
                      </a:r>
                      <a:endParaRPr lang="zh-CN" altLang="en-US" sz="1000" b="0" i="0" dirty="0">
                        <a:solidFill>
                          <a:srgbClr val="3C3C58"/>
                        </a:solidFill>
                        <a:latin typeface="Times New Roman" panose="02020603050405020304" pitchFamily="18" charset="0"/>
                        <a:ea typeface="Segoe UI" panose="020B0502040204020203"/>
                        <a:cs typeface="Times New Roman" panose="02020603050405020304" pitchFamily="18" charset="0"/>
                      </a:endParaRPr>
                    </a:p>
                  </a:txBody>
                  <a:tcPr marL="133350" marR="133350" marT="80010" marB="80010" anchor="ctr">
                    <a:lnL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altLang="zh-CN" sz="1000" b="0" i="0" dirty="0">
                          <a:solidFill>
                            <a:srgbClr val="3C3C58"/>
                          </a:solidFill>
                          <a:latin typeface="Times New Roman" panose="02020603050405020304" pitchFamily="18" charset="0"/>
                          <a:ea typeface="Segoe UI" panose="020B0502040204020203"/>
                          <a:cs typeface="Times New Roman" panose="02020603050405020304" pitchFamily="18" charset="0"/>
                        </a:rPr>
                        <a:t>1600–2000</a:t>
                      </a:r>
                      <a:endParaRPr lang="en-US" altLang="zh-CN" sz="1000" b="0" i="0" dirty="0">
                        <a:solidFill>
                          <a:srgbClr val="3C3C58"/>
                        </a:solidFill>
                        <a:latin typeface="Times New Roman" panose="02020603050405020304" pitchFamily="18" charset="0"/>
                        <a:ea typeface="Segoe UI" panose="020B0502040204020203"/>
                        <a:cs typeface="Times New Roman" panose="02020603050405020304" pitchFamily="18" charset="0"/>
                      </a:endParaRPr>
                    </a:p>
                  </a:txBody>
                  <a:tcPr marL="133350" marR="133350" marT="80010" marB="80010" anchor="ctr">
                    <a:lnL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altLang="zh-CN" sz="1000" b="0" i="0">
                          <a:solidFill>
                            <a:srgbClr val="3C3C58"/>
                          </a:solidFill>
                          <a:latin typeface="Times New Roman" panose="02020603050405020304" pitchFamily="18" charset="0"/>
                          <a:ea typeface="Segoe UI" panose="020B0502040204020203"/>
                          <a:cs typeface="Times New Roman" panose="02020603050405020304" pitchFamily="18" charset="0"/>
                        </a:rPr>
                        <a:t>1100–1500</a:t>
                      </a:r>
                      <a:endParaRPr lang="en-US" altLang="zh-CN" sz="1000" b="0" i="0">
                        <a:solidFill>
                          <a:srgbClr val="3C3C58"/>
                        </a:solidFill>
                        <a:latin typeface="Times New Roman" panose="02020603050405020304" pitchFamily="18" charset="0"/>
                        <a:ea typeface="Segoe UI" panose="020B0502040204020203"/>
                        <a:cs typeface="Times New Roman" panose="02020603050405020304" pitchFamily="18" charset="0"/>
                      </a:endParaRPr>
                    </a:p>
                  </a:txBody>
                  <a:tcPr marL="133350" marR="133350" marT="80010" marB="80010" anchor="ctr">
                    <a:lnL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altLang="zh-CN" sz="1000" b="0" i="0" dirty="0">
                          <a:solidFill>
                            <a:srgbClr val="3C3C58"/>
                          </a:solidFill>
                          <a:latin typeface="Times New Roman" panose="02020603050405020304" pitchFamily="18" charset="0"/>
                          <a:ea typeface="Segoe UI" panose="020B0502040204020203"/>
                          <a:cs typeface="Times New Roman" panose="02020603050405020304" pitchFamily="18" charset="0"/>
                        </a:rPr>
                        <a:t>500–700</a:t>
                      </a:r>
                      <a:endParaRPr lang="en-US" altLang="zh-CN" sz="1000" b="0" i="0" dirty="0">
                        <a:solidFill>
                          <a:srgbClr val="3C3C58"/>
                        </a:solidFill>
                        <a:latin typeface="Times New Roman" panose="02020603050405020304" pitchFamily="18" charset="0"/>
                        <a:ea typeface="Segoe UI" panose="020B0502040204020203"/>
                        <a:cs typeface="Times New Roman" panose="02020603050405020304" pitchFamily="18" charset="0"/>
                      </a:endParaRPr>
                    </a:p>
                  </a:txBody>
                  <a:tcPr marL="133350" marR="133350" marT="80010" marB="80010" anchor="ctr">
                    <a:lnL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814" y="864574"/>
            <a:ext cx="5907536" cy="26763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189865" y="4055745"/>
            <a:ext cx="6083300" cy="2675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kumimoji="1" lang="en-US" altLang="zh-CN" sz="2000" dirty="0"/>
              <a:t>The NNDMN 1.0 database consists monthly mean data on the concentrations of NH</a:t>
            </a:r>
            <a:r>
              <a:rPr kumimoji="1" lang="en-US" altLang="zh-CN" sz="2000" baseline="-25000" dirty="0"/>
              <a:t>4</a:t>
            </a:r>
            <a:r>
              <a:rPr kumimoji="1" lang="en-US" altLang="zh-CN" sz="2000" baseline="30000" dirty="0"/>
              <a:t>+</a:t>
            </a:r>
            <a:r>
              <a:rPr kumimoji="1" lang="en-US" altLang="zh-CN" sz="2000" dirty="0"/>
              <a:t>-N and NO</a:t>
            </a:r>
            <a:r>
              <a:rPr kumimoji="1" lang="en-US" altLang="zh-CN" sz="2000" baseline="-25000" dirty="0"/>
              <a:t>3</a:t>
            </a:r>
            <a:r>
              <a:rPr kumimoji="1" lang="en-US" altLang="zh-CN" sz="2000" baseline="30000" dirty="0"/>
              <a:t>−</a:t>
            </a:r>
            <a:r>
              <a:rPr kumimoji="1" lang="en-US" altLang="zh-CN" sz="2000" dirty="0"/>
              <a:t>-N in precipitation</a:t>
            </a:r>
            <a:r>
              <a:rPr kumimoji="1" lang="zh-CN" altLang="en-US" sz="2000" dirty="0"/>
              <a:t>；</a:t>
            </a:r>
            <a:r>
              <a:rPr kumimoji="1" lang="en-US" altLang="zh-CN" sz="2000" dirty="0"/>
              <a:t> bulk N deposition fluxes of NH</a:t>
            </a:r>
            <a:r>
              <a:rPr kumimoji="1" lang="en-US" altLang="zh-CN" sz="2000" baseline="-25000" dirty="0"/>
              <a:t>4</a:t>
            </a:r>
            <a:r>
              <a:rPr kumimoji="1" lang="en-US" altLang="zh-CN" sz="2000" baseline="30000" dirty="0"/>
              <a:t>+</a:t>
            </a:r>
            <a:r>
              <a:rPr kumimoji="1" lang="en-US" altLang="zh-CN" sz="2000" dirty="0"/>
              <a:t>-N and NO</a:t>
            </a:r>
            <a:r>
              <a:rPr kumimoji="1" lang="en-US" altLang="zh-CN" sz="2000" baseline="-25000" dirty="0"/>
              <a:t>3</a:t>
            </a:r>
            <a:r>
              <a:rPr kumimoji="1" lang="en-US" altLang="zh-CN" sz="2000" baseline="30000" dirty="0"/>
              <a:t>−</a:t>
            </a:r>
            <a:r>
              <a:rPr kumimoji="1" lang="en-US" altLang="zh-CN" sz="2000" dirty="0"/>
              <a:t>-N, monthly integrated precipitation amount, and the concentrations and dry deposition fluxes of gaseous NH</a:t>
            </a:r>
            <a:r>
              <a:rPr kumimoji="1" lang="en-US" altLang="zh-CN" sz="2000" baseline="-25000" dirty="0"/>
              <a:t>3</a:t>
            </a:r>
            <a:r>
              <a:rPr kumimoji="1" lang="en-US" altLang="zh-CN" sz="2000" dirty="0"/>
              <a:t>, NO</a:t>
            </a:r>
            <a:r>
              <a:rPr kumimoji="1" lang="en-US" altLang="zh-CN" sz="2000" baseline="-25000" dirty="0"/>
              <a:t>2</a:t>
            </a:r>
            <a:r>
              <a:rPr kumimoji="1" lang="en-US" altLang="zh-CN" sz="2000" dirty="0"/>
              <a:t> and HNO</a:t>
            </a:r>
            <a:r>
              <a:rPr kumimoji="1" lang="en-US" altLang="zh-CN" sz="2000" baseline="-25000" dirty="0"/>
              <a:t>3</a:t>
            </a:r>
            <a:r>
              <a:rPr kumimoji="1" lang="en-US" altLang="zh-CN" sz="2000" dirty="0"/>
              <a:t>, particulate NH</a:t>
            </a:r>
            <a:r>
              <a:rPr kumimoji="1" lang="en-US" altLang="zh-CN" sz="2000" baseline="-25000" dirty="0"/>
              <a:t>4</a:t>
            </a:r>
            <a:r>
              <a:rPr kumimoji="1" lang="en-US" altLang="zh-CN" sz="2000" baseline="30000" dirty="0"/>
              <a:t>+</a:t>
            </a:r>
            <a:r>
              <a:rPr kumimoji="1" lang="en-US" altLang="zh-CN" sz="2000" dirty="0"/>
              <a:t>-  and NO</a:t>
            </a:r>
            <a:r>
              <a:rPr kumimoji="1" lang="en-US" altLang="zh-CN" sz="2000" baseline="-25000" dirty="0"/>
              <a:t>3</a:t>
            </a:r>
            <a:r>
              <a:rPr kumimoji="1" lang="en-US" altLang="zh-CN" sz="2000" baseline="30000" dirty="0"/>
              <a:t>− </a:t>
            </a:r>
            <a:r>
              <a:rPr kumimoji="1" lang="en-US" altLang="zh-CN" sz="2000" dirty="0"/>
              <a:t>for </a:t>
            </a:r>
            <a:r>
              <a:rPr kumimoji="1" lang="en-US" altLang="zh-CN" sz="2000" b="1" dirty="0">
                <a:solidFill>
                  <a:srgbClr val="7030A0"/>
                </a:solidFill>
              </a:rPr>
              <a:t>59 monitoring sites</a:t>
            </a:r>
            <a:r>
              <a:rPr kumimoji="1" lang="en-US" altLang="zh-CN" sz="2000" dirty="0"/>
              <a:t>. </a:t>
            </a:r>
            <a:endParaRPr kumimoji="1" lang="en-US" altLang="zh-CN" sz="2000" dirty="0"/>
          </a:p>
          <a:p>
            <a:endParaRPr kumimoji="1" lang="zh-CN" altLang="en-US" sz="2000" dirty="0"/>
          </a:p>
        </p:txBody>
      </p:sp>
      <p:pic>
        <p:nvPicPr>
          <p:cNvPr id="4" name="图片 3" descr="截屏2026-07-19 下午9.17.0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165" y="1609725"/>
            <a:ext cx="6000750" cy="4257675"/>
          </a:xfrm>
          <a:prstGeom prst="rect">
            <a:avLst/>
          </a:prstGeom>
        </p:spPr>
      </p:pic>
      <p:pic>
        <p:nvPicPr>
          <p:cNvPr id="9" name="图片 8" descr="截屏2026-07-19 下午9.18.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5" y="2057400"/>
            <a:ext cx="3919855" cy="640715"/>
          </a:xfrm>
          <a:prstGeom prst="rect">
            <a:avLst/>
          </a:prstGeom>
        </p:spPr>
      </p:pic>
      <p:pic>
        <p:nvPicPr>
          <p:cNvPr id="11" name="图片 10" descr="截屏2026-07-19 下午9.18.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2687320"/>
            <a:ext cx="4728210" cy="640715"/>
          </a:xfrm>
          <a:prstGeom prst="rect">
            <a:avLst/>
          </a:prstGeom>
        </p:spPr>
      </p:pic>
      <p:pic>
        <p:nvPicPr>
          <p:cNvPr id="12" name="图片 11" descr="截屏2026-07-19 下午9.18.5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3373755"/>
            <a:ext cx="5257165" cy="62484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9685" y="757555"/>
            <a:ext cx="92735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ym typeface="+mn-ea"/>
              </a:rPr>
              <a:t>Nationwide Nitrogen Deposition Monitoring Network (NNDMN)</a:t>
            </a:r>
            <a:endParaRPr lang="en-US" altLang="zh-CN" sz="2400" b="1">
              <a:sym typeface="+mn-ea"/>
            </a:endParaRPr>
          </a:p>
        </p:txBody>
      </p:sp>
      <p:sp>
        <p:nvSpPr>
          <p:cNvPr id="14" name="Rectangle 27"/>
          <p:cNvSpPr/>
          <p:nvPr userDrawn="1">
            <p:custDataLst>
              <p:tags r:id="rId6"/>
            </p:custDataLst>
          </p:nvPr>
        </p:nvSpPr>
        <p:spPr>
          <a:xfrm>
            <a:off x="28" y="29"/>
            <a:ext cx="12192631" cy="365731"/>
          </a:xfrm>
          <a:custGeom>
            <a:avLst/>
            <a:gdLst>
              <a:gd name="connsiteX0" fmla="*/ 12192631 w 12192631"/>
              <a:gd name="connsiteY0" fmla="*/ 0 h 661031"/>
              <a:gd name="connsiteX1" fmla="*/ 12192630 w 12192631"/>
              <a:gd name="connsiteY1" fmla="*/ 661031 h 661031"/>
              <a:gd name="connsiteX2" fmla="*/ 0 w 12192631"/>
              <a:gd name="connsiteY2" fmla="*/ 661031 h 661031"/>
              <a:gd name="connsiteX3" fmla="*/ 3 w 12192631"/>
              <a:gd name="connsiteY3" fmla="*/ 1 h 661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631" h="661031">
                <a:moveTo>
                  <a:pt x="12192631" y="0"/>
                </a:moveTo>
                <a:lnTo>
                  <a:pt x="12192630" y="661031"/>
                </a:lnTo>
                <a:lnTo>
                  <a:pt x="0" y="661031"/>
                </a:lnTo>
                <a:lnTo>
                  <a:pt x="3" y="1"/>
                </a:lnTo>
                <a:close/>
              </a:path>
            </a:pathLst>
          </a:custGeom>
          <a:pattFill prst="dkHorz">
            <a:fgClr>
              <a:srgbClr val="2956FF">
                <a:lumMod val="75000"/>
              </a:srgbClr>
            </a:fgClr>
            <a:bgClr>
              <a:srgbClr val="2956FF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/>
            <a:endParaRPr lang="zh-CN" altLang="en-US">
              <a:solidFill>
                <a:srgbClr val="FFFFFF"/>
              </a:solidFill>
              <a:latin typeface="微软雅黑" charset="0"/>
              <a:ea typeface="微软雅黑" charset="0"/>
            </a:endParaRPr>
          </a:p>
        </p:txBody>
      </p:sp>
      <p:pic>
        <p:nvPicPr>
          <p:cNvPr id="5" name="图片 4" descr="截屏2026-07-19 下午9.17.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3210" y="-58420"/>
            <a:ext cx="5558790" cy="73025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0" y="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en-US" altLang="zh-CN" sz="2400" dirty="0">
                <a:solidFill>
                  <a:schemeClr val="bg1"/>
                </a:solidFill>
                <a:sym typeface="+mn-ea"/>
              </a:rPr>
              <a:t>Data and Methodology-Data</a:t>
            </a:r>
            <a:endParaRPr kumimoji="1" lang="en-US" altLang="zh-CN" sz="24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9"/>
            </p:custDataLst>
          </p:nvPr>
        </p:nvSpPr>
        <p:spPr>
          <a:xfrm>
            <a:off x="267335" y="1303655"/>
            <a:ext cx="5828665" cy="920115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p>
            <a:pPr indent="0">
              <a:buFont typeface="Arial" panose="020B0704020202020204" pitchFamily="34" charset="0"/>
              <a:buNone/>
            </a:pPr>
            <a:r>
              <a:rPr lang="en-US" altLang="zh-CN" sz="2000" dirty="0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Site: </a:t>
            </a:r>
            <a:r>
              <a:rPr lang="en-US" altLang="zh-CN" sz="2000" dirty="0" err="1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Baiyun</a:t>
            </a:r>
            <a:r>
              <a:rPr lang="en-US" altLang="zh-CN" sz="2000" dirty="0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 (23.16</a:t>
            </a:r>
            <a:r>
              <a:rPr lang="en-US" altLang="zh-CN" sz="2000" dirty="0">
                <a:ln>
                  <a:noFill/>
                </a:ln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°</a:t>
            </a:r>
            <a:r>
              <a:rPr lang="en-US" altLang="zh-CN" sz="2000" dirty="0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N, 113.27</a:t>
            </a:r>
            <a:r>
              <a:rPr lang="en-US" altLang="zh-CN" sz="2000" dirty="0">
                <a:ln>
                  <a:noFill/>
                </a:ln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°</a:t>
            </a:r>
            <a:r>
              <a:rPr lang="en-US" altLang="zh-CN" sz="2000" dirty="0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E)</a:t>
            </a:r>
            <a:endParaRPr lang="en-US" altLang="zh-CN" sz="2000" dirty="0">
              <a:ln>
                <a:noFill/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704020202020204" pitchFamily="34" charset="0"/>
              <a:buNone/>
            </a:pPr>
            <a:r>
              <a:rPr lang="en-US" altLang="zh-CN" sz="2000" dirty="0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Period: May 2010–Dec. 2020</a:t>
            </a:r>
            <a:r>
              <a:rPr lang="zh-CN" altLang="en-US" sz="2000" dirty="0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monthly</a:t>
            </a:r>
            <a:endParaRPr lang="en-US" altLang="zh-CN" sz="2000" dirty="0">
              <a:ln>
                <a:noFill/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704020202020204" pitchFamily="34" charset="0"/>
              <a:buNone/>
            </a:pPr>
            <a:endParaRPr lang="en-US" altLang="zh-CN" sz="2000" dirty="0">
              <a:ln>
                <a:noFill/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MEE</a:t>
            </a:r>
            <a:endParaRPr kumimoji="1"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8135" y="5271135"/>
            <a:ext cx="1850390" cy="1325880"/>
          </a:xfrm>
        </p:spPr>
        <p:txBody>
          <a:bodyPr>
            <a:normAutofit fontScale="90000"/>
          </a:bodyPr>
          <a:lstStyle/>
          <a:p>
            <a:r>
              <a:rPr kumimoji="1" lang="en-US" altLang="zh-CN" sz="2000" dirty="0"/>
              <a:t>PM</a:t>
            </a:r>
            <a:r>
              <a:rPr kumimoji="1" lang="en-US" altLang="zh-CN" sz="2000" baseline="-25000" dirty="0"/>
              <a:t>2.5</a:t>
            </a:r>
            <a:endParaRPr kumimoji="1" lang="en-US" altLang="zh-CN" sz="2000" baseline="-25000" dirty="0"/>
          </a:p>
          <a:p>
            <a:r>
              <a:rPr kumimoji="1" lang="en-US" altLang="zh-CN" sz="2000" dirty="0"/>
              <a:t>SO</a:t>
            </a:r>
            <a:r>
              <a:rPr kumimoji="1" lang="en-US" altLang="zh-CN" sz="2000" baseline="-25000" dirty="0"/>
              <a:t>2</a:t>
            </a:r>
            <a:endParaRPr kumimoji="1" lang="en-US" altLang="zh-CN" sz="2000" baseline="-25000" dirty="0"/>
          </a:p>
          <a:p>
            <a:r>
              <a:rPr kumimoji="1" lang="en-US" altLang="zh-CN" sz="2000" dirty="0"/>
              <a:t>NO</a:t>
            </a:r>
            <a:r>
              <a:rPr kumimoji="1" lang="en-US" altLang="zh-CN" sz="2000" baseline="-25000" dirty="0"/>
              <a:t>2</a:t>
            </a:r>
            <a:endParaRPr kumimoji="1" lang="en-US" altLang="zh-CN" sz="2000" baseline="-25000" dirty="0"/>
          </a:p>
          <a:p>
            <a:r>
              <a:rPr kumimoji="1" lang="en-US" altLang="zh-CN" sz="2700" baseline="-25000" dirty="0"/>
              <a:t>2014-2022</a:t>
            </a:r>
            <a:endParaRPr kumimoji="1" lang="en-US" altLang="zh-CN" sz="2700" baseline="-25000" dirty="0"/>
          </a:p>
          <a:p>
            <a:endParaRPr kumimoji="1" lang="en-US" altLang="zh-CN" sz="2700" baseline="-250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1690" y="365125"/>
            <a:ext cx="4776470" cy="46062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3960"/>
            <a:ext cx="5631815" cy="3975735"/>
          </a:xfrm>
          <a:prstGeom prst="rect">
            <a:avLst/>
          </a:prstGeom>
        </p:spPr>
      </p:pic>
      <p:sp>
        <p:nvSpPr>
          <p:cNvPr id="7" name="内容占位符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0678160" y="1691005"/>
            <a:ext cx="1464310" cy="19939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/>
              <a:t>PM</a:t>
            </a:r>
            <a:r>
              <a:rPr kumimoji="1" lang="en-US" altLang="zh-CN" sz="2000" baseline="-25000" dirty="0"/>
              <a:t>2.5</a:t>
            </a:r>
            <a:endParaRPr kumimoji="1" lang="en-US" altLang="zh-CN" sz="2000" baseline="-25000" dirty="0"/>
          </a:p>
          <a:p>
            <a:r>
              <a:rPr kumimoji="1" lang="en-US" altLang="zh-CN" sz="2000" dirty="0"/>
              <a:t>SO</a:t>
            </a:r>
            <a:r>
              <a:rPr kumimoji="1" lang="en-US" altLang="zh-CN" sz="2000" baseline="-25000" dirty="0"/>
              <a:t>4</a:t>
            </a:r>
            <a:r>
              <a:rPr kumimoji="1" lang="en-US" altLang="zh-CN" sz="2000" baseline="30000" dirty="0"/>
              <a:t>2-</a:t>
            </a:r>
            <a:endParaRPr kumimoji="1" lang="en-US" altLang="zh-CN" sz="2000" baseline="-25000" dirty="0"/>
          </a:p>
          <a:p>
            <a:r>
              <a:rPr kumimoji="1" lang="en-US" altLang="zh-CN" sz="2000" dirty="0"/>
              <a:t>NO</a:t>
            </a:r>
            <a:r>
              <a:rPr kumimoji="1" lang="en-US" altLang="zh-CN" sz="2000" baseline="-25000" dirty="0"/>
              <a:t>3</a:t>
            </a:r>
            <a:r>
              <a:rPr kumimoji="1" lang="en-US" altLang="zh-CN" sz="2000" baseline="30000" dirty="0"/>
              <a:t>-</a:t>
            </a:r>
            <a:endParaRPr kumimoji="1" lang="en-US" altLang="zh-CN" sz="2000" dirty="0"/>
          </a:p>
          <a:p>
            <a:r>
              <a:rPr kumimoji="1" lang="en-US" altLang="zh-CN" sz="2000" dirty="0"/>
              <a:t>NH</a:t>
            </a:r>
            <a:r>
              <a:rPr kumimoji="1" lang="en-US" altLang="zh-CN" sz="2000" baseline="-25000" dirty="0"/>
              <a:t>4</a:t>
            </a:r>
            <a:r>
              <a:rPr kumimoji="1" lang="en-US" altLang="zh-CN" sz="2000" baseline="30000" dirty="0"/>
              <a:t>+</a:t>
            </a:r>
            <a:endParaRPr kumimoji="1" lang="en-US" altLang="zh-CN" sz="2000" dirty="0"/>
          </a:p>
          <a:p>
            <a:r>
              <a:rPr kumimoji="1" lang="en-US" altLang="zh-CN" sz="2000" dirty="0"/>
              <a:t>OC</a:t>
            </a:r>
            <a:endParaRPr kumimoji="1" lang="en-US" altLang="zh-CN" sz="2000" dirty="0"/>
          </a:p>
        </p:txBody>
      </p:sp>
      <p:sp>
        <p:nvSpPr>
          <p:cNvPr id="4" name="文本框 3"/>
          <p:cNvSpPr txBox="1"/>
          <p:nvPr/>
        </p:nvSpPr>
        <p:spPr>
          <a:xfrm>
            <a:off x="7802880" y="95885"/>
            <a:ext cx="27038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Prof. Jianzheng Yu</a:t>
            </a:r>
            <a:endParaRPr lang="zh-CN" altLang="en-US"/>
          </a:p>
        </p:txBody>
      </p:sp>
      <p:pic>
        <p:nvPicPr>
          <p:cNvPr id="10" name="图片 9" descr="截屏2026-07-19 下午9.22.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270" y="460375"/>
            <a:ext cx="3981450" cy="810260"/>
          </a:xfrm>
          <a:prstGeom prst="rect">
            <a:avLst/>
          </a:prstGeom>
        </p:spPr>
      </p:pic>
      <p:graphicFrame>
        <p:nvGraphicFramePr>
          <p:cNvPr id="13" name="表格 12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6245225" y="4723130"/>
          <a:ext cx="3980815" cy="2065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1565"/>
                <a:gridCol w="1219200"/>
                <a:gridCol w="1670050"/>
              </a:tblGrid>
              <a:tr h="399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Site </a:t>
                      </a:r>
                      <a:endParaRPr lang="en-US" altLang="zh-C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Represent</a:t>
                      </a:r>
                      <a:endParaRPr lang="en-US" altLang="zh-C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Period</a:t>
                      </a:r>
                      <a:endParaRPr lang="en-US" altLang="zh-C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99415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GZ (Guangzhou)</a:t>
                      </a:r>
                      <a:endParaRPr lang="en-US" altLang="zh-C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Urban</a:t>
                      </a:r>
                      <a:endParaRPr lang="en-US" altLang="zh-C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20070724-20171227</a:t>
                      </a:r>
                      <a:endParaRPr lang="en-US" altLang="zh-C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12750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NS (Nanshan)</a:t>
                      </a:r>
                      <a:endParaRPr lang="en-US" altLang="zh-C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Suburban</a:t>
                      </a:r>
                      <a:endParaRPr lang="en-US" altLang="zh-C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20070724-20171227</a:t>
                      </a:r>
                      <a:endParaRPr lang="en-US" altLang="zh-C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40690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 (</a:t>
                      </a:r>
                      <a:r>
                        <a:rPr lang="en-US" altLang="zh-C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Nanhai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altLang="zh-C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Industrial zone</a:t>
                      </a:r>
                      <a:endParaRPr lang="en-US" altLang="zh-C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20080114-20141227; 2017</a:t>
                      </a:r>
                      <a:endParaRPr lang="en-US" altLang="zh-C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12750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DG (Dongguan)</a:t>
                      </a:r>
                      <a:endParaRPr lang="en-US" altLang="zh-C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Urban outskirt</a:t>
                      </a:r>
                      <a:endParaRPr lang="en-US" altLang="zh-C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20080706-20141127</a:t>
                      </a:r>
                      <a:endParaRPr lang="en-US" altLang="zh-C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Rectangle 27"/>
          <p:cNvSpPr/>
          <p:nvPr userDrawn="1">
            <p:custDataLst>
              <p:tags r:id="rId6"/>
            </p:custDataLst>
          </p:nvPr>
        </p:nvSpPr>
        <p:spPr>
          <a:xfrm>
            <a:off x="28" y="29"/>
            <a:ext cx="12192631" cy="365731"/>
          </a:xfrm>
          <a:custGeom>
            <a:avLst/>
            <a:gdLst>
              <a:gd name="connsiteX0" fmla="*/ 12192631 w 12192631"/>
              <a:gd name="connsiteY0" fmla="*/ 0 h 661031"/>
              <a:gd name="connsiteX1" fmla="*/ 12192630 w 12192631"/>
              <a:gd name="connsiteY1" fmla="*/ 661031 h 661031"/>
              <a:gd name="connsiteX2" fmla="*/ 0 w 12192631"/>
              <a:gd name="connsiteY2" fmla="*/ 661031 h 661031"/>
              <a:gd name="connsiteX3" fmla="*/ 3 w 12192631"/>
              <a:gd name="connsiteY3" fmla="*/ 1 h 661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631" h="661031">
                <a:moveTo>
                  <a:pt x="12192631" y="0"/>
                </a:moveTo>
                <a:lnTo>
                  <a:pt x="12192630" y="661031"/>
                </a:lnTo>
                <a:lnTo>
                  <a:pt x="0" y="661031"/>
                </a:lnTo>
                <a:lnTo>
                  <a:pt x="3" y="1"/>
                </a:lnTo>
                <a:close/>
              </a:path>
            </a:pathLst>
          </a:custGeom>
          <a:pattFill prst="dkHorz">
            <a:fgClr>
              <a:srgbClr val="2956FF">
                <a:lumMod val="75000"/>
              </a:srgbClr>
            </a:fgClr>
            <a:bgClr>
              <a:srgbClr val="2956FF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/>
            <a:endParaRPr lang="zh-CN" altLang="en-US">
              <a:solidFill>
                <a:srgbClr val="FFFFF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0" y="0"/>
            <a:ext cx="60305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en-US" altLang="zh-CN" sz="2400" dirty="0">
                <a:solidFill>
                  <a:schemeClr val="bg1"/>
                </a:solidFill>
                <a:sym typeface="+mn-ea"/>
              </a:rPr>
              <a:t> Data and Methodology</a:t>
            </a:r>
            <a:endParaRPr kumimoji="1" lang="en-US" altLang="zh-CN" sz="2400" dirty="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z="2400" b="1" dirty="0">
                <a:solidFill>
                  <a:srgbClr val="3C3C58"/>
                </a:solidFill>
                <a:latin typeface="Segoe UI" panose="020B0502040204020203" pitchFamily="34" charset="0"/>
                <a:sym typeface="+mn-ea"/>
              </a:rPr>
              <a:t>Long-term Evolution and Structural Transition of SO₂, NOₓ, and NH₃ Emissions in the PRD</a:t>
            </a:r>
            <a:endParaRPr lang="en-US" altLang="zh-CN" sz="2400" b="1" dirty="0">
              <a:solidFill>
                <a:srgbClr val="3C3C58"/>
              </a:solidFill>
              <a:latin typeface="Segoe UI" panose="020B0502040204020203" pitchFamily="34" charset="0"/>
              <a:sym typeface="+mn-ea"/>
            </a:endParaRPr>
          </a:p>
        </p:txBody>
      </p:sp>
      <p:sp>
        <p:nvSpPr>
          <p:cNvPr id="6" name="Rectangle 2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635" cy="425450"/>
          </a:xfrm>
          <a:custGeom>
            <a:avLst/>
            <a:gdLst>
              <a:gd name="connsiteX0" fmla="*/ 12192631 w 12192631"/>
              <a:gd name="connsiteY0" fmla="*/ 0 h 661031"/>
              <a:gd name="connsiteX1" fmla="*/ 12192630 w 12192631"/>
              <a:gd name="connsiteY1" fmla="*/ 661031 h 661031"/>
              <a:gd name="connsiteX2" fmla="*/ 0 w 12192631"/>
              <a:gd name="connsiteY2" fmla="*/ 661031 h 661031"/>
              <a:gd name="connsiteX3" fmla="*/ 3 w 12192631"/>
              <a:gd name="connsiteY3" fmla="*/ 1 h 661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631" h="661031">
                <a:moveTo>
                  <a:pt x="12192631" y="0"/>
                </a:moveTo>
                <a:lnTo>
                  <a:pt x="12192630" y="661031"/>
                </a:lnTo>
                <a:lnTo>
                  <a:pt x="0" y="661031"/>
                </a:lnTo>
                <a:lnTo>
                  <a:pt x="3" y="1"/>
                </a:lnTo>
                <a:close/>
              </a:path>
            </a:pathLst>
          </a:custGeom>
          <a:pattFill prst="dkHorz">
            <a:fgClr>
              <a:schemeClr val="accent1">
                <a:lumMod val="75000"/>
              </a:schemeClr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/>
            <a:endParaRPr lang="zh-CN" altLang="en-US">
              <a:solidFill>
                <a:schemeClr val="lt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4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0" y="-109220"/>
            <a:ext cx="4580890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 b="1" dirty="0">
                <a:solidFill>
                  <a:schemeClr val="bg1"/>
                </a:solidFill>
              </a:rPr>
              <a:t> Results</a:t>
            </a:r>
            <a:endParaRPr kumimoji="1" lang="en-US" altLang="zh-CN" sz="2000" b="1" dirty="0">
              <a:solidFill>
                <a:schemeClr val="bg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52805" y="3429000"/>
            <a:ext cx="10515600" cy="28359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665605" y="1341755"/>
            <a:ext cx="9067800" cy="208724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100580" y="1930400"/>
            <a:ext cx="82511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Times New Roman Regular" panose="02020603050405020304" charset="0"/>
                <a:cs typeface="Times New Roman Regular" panose="02020603050405020304" charset="0"/>
              </a:rPr>
              <a:t>Reveal the long-term evolution of anthropogenic reactive nitrogen and precursor emission patterns, source structure transitions, and spatial coupling in the PRD region.</a:t>
            </a:r>
            <a:endParaRPr lang="zh-CN" alt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zh-CN" altLang="en-US">
                <a:latin typeface="Times New Roman Regular" panose="02020603050405020304" charset="0"/>
                <a:cs typeface="Times New Roman Regular" panose="02020603050405020304" charset="0"/>
              </a:rPr>
              <a:t>Investigste the long-term changes, sectoral sources, and spatial mismatches of oxidized nitrogen, reduced nitrogen, and sulfer precursors in the PRD region.</a:t>
            </a:r>
            <a:endParaRPr lang="zh-CN" altLang="en-US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81735" y="4014470"/>
            <a:ext cx="44215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Times New Roman Regular" panose="02020603050405020304" charset="0"/>
                <a:cs typeface="Times New Roman Regular" panose="02020603050405020304" charset="0"/>
              </a:rPr>
              <a:t>Spatiotemporal variation characteristics of NOₓ, SO₂, and NH₃ emissions in China from 1990 to 2023</a:t>
            </a:r>
            <a:endParaRPr lang="zh-CN" altLang="en-US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576695" y="4090670"/>
            <a:ext cx="41808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Times New Roman Regular" panose="02020603050405020304" charset="0"/>
                <a:cs typeface="Times New Roman Regular" panose="02020603050405020304" charset="0"/>
              </a:rPr>
              <a:t>Spatiotemporal variation characteristics of NOₓ, SO₂, and NH₃ emissions in the PRD region from 1990 to 2023</a:t>
            </a:r>
            <a:endParaRPr lang="zh-CN" altLang="en-US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94105" y="5086985"/>
            <a:ext cx="43446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Times New Roman Regular" panose="02020603050405020304" charset="0"/>
                <a:cs typeface="Times New Roman Regular" panose="02020603050405020304" charset="0"/>
              </a:rPr>
              <a:t>Evolution of emission source structures for NOₓ, SO₂, and NH₃ in the PRD region from 1990 to 2023</a:t>
            </a:r>
            <a:endParaRPr lang="zh-CN" altLang="en-US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467475" y="5064760"/>
            <a:ext cx="46183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Times New Roman Regular" panose="02020603050405020304" charset="0"/>
                <a:cs typeface="Times New Roman Regular" panose="02020603050405020304" charset="0"/>
              </a:rPr>
              <a:t>Structural changes in oxidized nitrogen versus reduced nitrogen emissions in the PRD region</a:t>
            </a:r>
            <a:endParaRPr lang="zh-CN" altLang="en-US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/>
          </p:nvPr>
        </p:nvSpPr>
        <p:spPr>
          <a:xfrm>
            <a:off x="139700" y="0"/>
            <a:ext cx="10515600" cy="539841"/>
          </a:xfrm>
        </p:spPr>
        <p:txBody>
          <a:bodyPr>
            <a:noAutofit/>
          </a:bodyPr>
          <a:lstStyle/>
          <a:p>
            <a:r>
              <a:rPr lang="en-US" altLang="zh-CN" sz="2000" i="0" dirty="0">
                <a:solidFill>
                  <a:srgbClr val="3C3C5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National Spatiotemporal Trends of PM₂.₅ Emissions (1990–2023)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02945" y="5570855"/>
            <a:ext cx="10112375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zh-CN" dirty="0"/>
              <a:t>National PM₂.₅ emission intensity peaked in 2006, declining sharply after 2012 due to strengthened controls.</a:t>
            </a:r>
            <a:endParaRPr lang="en-US" altLang="zh-CN" dirty="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zh-CN" dirty="0"/>
              <a:t>From 2010 to 2023, PM₂.₅ reductions were concentrated in North China, the Sichuan Basin, the middle–lower Yangtze River, and the PRD.</a:t>
            </a:r>
            <a:endParaRPr lang="en-US" altLang="zh-CN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6565" y="1330325"/>
            <a:ext cx="4284345" cy="334327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02908" y="4767701"/>
            <a:ext cx="5652807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Spatial distribution of annual, summer and winter PM2.5 emission intensity in 1995,2010 and 2022, and the rate of change from 2010 to 2022 in China</a:t>
            </a:r>
            <a:r>
              <a:rPr lang="zh-CN" altLang="en-US" sz="1200" dirty="0"/>
              <a:t>（</a:t>
            </a:r>
            <a:r>
              <a:rPr lang="en-US" altLang="zh-CN" sz="1200" dirty="0"/>
              <a:t>106kg/month/grid)</a:t>
            </a:r>
            <a:r>
              <a:rPr lang="zh-CN" altLang="en-US" sz="1200" dirty="0"/>
              <a:t>）</a:t>
            </a:r>
            <a:endParaRPr lang="zh-CN" altLang="en-US" sz="1200" dirty="0"/>
          </a:p>
        </p:txBody>
      </p:sp>
      <p:sp>
        <p:nvSpPr>
          <p:cNvPr id="12" name="文本框 11"/>
          <p:cNvSpPr txBox="1"/>
          <p:nvPr/>
        </p:nvSpPr>
        <p:spPr>
          <a:xfrm>
            <a:off x="6806249" y="4772921"/>
            <a:ext cx="5118219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The annual emission intensity of PM2.5 in China in 1995, 2010, and 2022, respectively.</a:t>
            </a:r>
            <a:endParaRPr lang="en-US" altLang="zh-CN" sz="1200" dirty="0"/>
          </a:p>
        </p:txBody>
      </p:sp>
      <p:pic>
        <p:nvPicPr>
          <p:cNvPr id="2" name="图片 1" descr="截屏2026-09-16 上午9.39.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005" y="1010285"/>
            <a:ext cx="4629150" cy="3815715"/>
          </a:xfrm>
          <a:prstGeom prst="rect">
            <a:avLst/>
          </a:prstGeom>
        </p:spPr>
      </p:pic>
      <p:pic>
        <p:nvPicPr>
          <p:cNvPr id="3" name="图片 2" descr="截屏2026-09-16 上午9.32.3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420225" y="0"/>
            <a:ext cx="2771775" cy="6762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截屏2026-09-16 上午9.32.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0225" y="0"/>
            <a:ext cx="2771775" cy="67627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3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39699" y="0"/>
            <a:ext cx="11370129" cy="539841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 b="1" i="0" dirty="0">
                <a:solidFill>
                  <a:srgbClr val="3C3C58"/>
                </a:solidFill>
                <a:effectLst/>
                <a:latin typeface="Segoe UI" panose="020B0502040204020203" pitchFamily="34" charset="0"/>
              </a:rPr>
              <a:t> National Spatiotemporal Trends of NOₓ, SO₂, and NH₃ (1990–2023)</a:t>
            </a:r>
            <a:endParaRPr lang="en-US" altLang="zh-CN" sz="2000" b="1" i="0" dirty="0">
              <a:solidFill>
                <a:srgbClr val="3C3C58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39700" y="4649470"/>
            <a:ext cx="5657215" cy="190754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marL="285750" indent="-285750" algn="l">
              <a:buFont typeface="Arial" panose="020B0704020202020204" pitchFamily="34" charset="0"/>
              <a:buChar char="•"/>
            </a:pPr>
            <a:r>
              <a:rPr lang="en-US" altLang="zh-CN" b="0" i="0" dirty="0">
                <a:effectLst/>
                <a:latin typeface="Segoe UI" panose="020B0502040204020203" pitchFamily="34" charset="0"/>
              </a:rPr>
              <a:t>NOₓ and SO₂ emissions exhibited inverted-U trends, peaking in 2006 and 2012, respectively, reflecting energy growth, industrial expansion, and subsequent strengthened emission controls.</a:t>
            </a:r>
            <a:endParaRPr lang="en-US" altLang="zh-CN" b="0" i="0" dirty="0">
              <a:effectLst/>
              <a:latin typeface="Segoe UI" panose="020B0502040204020203" pitchFamily="34" charset="0"/>
            </a:endParaRPr>
          </a:p>
          <a:p>
            <a:pPr marL="285750" indent="-285750" algn="l">
              <a:buFont typeface="Arial" panose="020B0704020202020204" pitchFamily="34" charset="0"/>
              <a:buChar char="•"/>
            </a:pPr>
            <a:r>
              <a:rPr lang="en-US" altLang="zh-CN" b="0" i="0" dirty="0">
                <a:effectLst/>
                <a:latin typeface="Segoe UI" panose="020B0502040204020203" pitchFamily="34" charset="0"/>
              </a:rPr>
              <a:t>NH₃ emissions remained comparatively stable, increasing the relative abundance of NH₃ in the national Nr budget.</a:t>
            </a:r>
            <a:endParaRPr lang="en-US" altLang="zh-CN" b="0" i="0" dirty="0">
              <a:effectLst/>
              <a:latin typeface="Segoe UI" panose="020B0502040204020203" pitchFamily="34" charset="0"/>
            </a:endParaRPr>
          </a:p>
          <a:p>
            <a:endParaRPr lang="en-US" altLang="zh-CN" b="0" i="0" dirty="0">
              <a:effectLst/>
              <a:latin typeface="Segoe UI" panose="020B0502040204020203" pitchFamily="34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247775" y="556260"/>
            <a:ext cx="3736340" cy="3716655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765265" y="4284542"/>
            <a:ext cx="5118219" cy="246221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zh-CN" sz="1000" dirty="0"/>
              <a:t>The annual emission intensity of NOx, SO ₂, and NH3 in China in 1995, 2010, and 2022.</a:t>
            </a:r>
            <a:endParaRPr lang="zh-CN" altLang="en-US" sz="1000" dirty="0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630035" y="654685"/>
            <a:ext cx="4424680" cy="348424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7499833" y="4150603"/>
            <a:ext cx="3298120" cy="40011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zh-CN" sz="1000" dirty="0"/>
              <a:t>Changes in average NOx, SO ₂, and NH3 emission intensity in the PRD from 1990 to 2023.</a:t>
            </a:r>
            <a:endParaRPr lang="zh-CN" altLang="en-US" sz="1000" dirty="0"/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6096000" y="4649470"/>
            <a:ext cx="5937885" cy="203009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zh-CN" dirty="0"/>
              <a:t>PRD NOₓ and SO₂ emissions peaked earlier than the national average—reflecting earlier industrialization and aggressive local governance.</a:t>
            </a:r>
            <a:endParaRPr lang="en-US" altLang="zh-CN" dirty="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zh-CN" dirty="0"/>
              <a:t>Post-2010, NH₃ intensity weakened in city centers but increased in peripheral agricultural areas (</a:t>
            </a:r>
            <a:r>
              <a:rPr lang="en-US" altLang="zh-CN" dirty="0" err="1"/>
              <a:t>Zhaoqing</a:t>
            </a:r>
            <a:r>
              <a:rPr lang="en-US" altLang="zh-CN" dirty="0"/>
              <a:t>, Jiangmen), creating a pronounced urban–rural gradient. </a:t>
            </a:r>
            <a:endParaRPr lang="en-US" altLang="zh-C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5915" y="1580515"/>
            <a:ext cx="3482975" cy="39243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725" y="1638300"/>
            <a:ext cx="3331845" cy="38423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8925" y="1597660"/>
            <a:ext cx="3362960" cy="3924300"/>
          </a:xfrm>
          <a:prstGeom prst="rect">
            <a:avLst/>
          </a:prstGeom>
        </p:spPr>
      </p:pic>
      <p:sp>
        <p:nvSpPr>
          <p:cNvPr id="9" name="标题 1"/>
          <p:cNvSpPr txBox="1"/>
          <p:nvPr/>
        </p:nvSpPr>
        <p:spPr>
          <a:xfrm>
            <a:off x="94958" y="106261"/>
            <a:ext cx="10515600" cy="539841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fontScale="7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/>
              <a:t>Source-Structure Evolution of NOₓ, SO₂, and NH₃ in the PRD (1990–2023)</a:t>
            </a:r>
            <a:endParaRPr lang="zh-CN" altLang="en-US" sz="3200" dirty="0"/>
          </a:p>
        </p:txBody>
      </p:sp>
      <p:sp>
        <p:nvSpPr>
          <p:cNvPr id="18" name="文本框 17"/>
          <p:cNvSpPr txBox="1"/>
          <p:nvPr>
            <p:custDataLst>
              <p:tags r:id="rId7"/>
            </p:custDataLst>
          </p:nvPr>
        </p:nvSpPr>
        <p:spPr>
          <a:xfrm>
            <a:off x="752148" y="5766548"/>
            <a:ext cx="3301015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Monthly changes in NH3 emission intensity from different sources in the PRD region from 1990 to 2023</a:t>
            </a:r>
            <a:endParaRPr lang="en-US" altLang="zh-CN" sz="1400" dirty="0"/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4340093" y="5729854"/>
            <a:ext cx="3301015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Monthly changes in NH3 emission intensity from different sources in the PRD region from 1990 to 2023</a:t>
            </a:r>
            <a:endParaRPr lang="en-US" altLang="zh-CN" sz="1400" dirty="0"/>
          </a:p>
        </p:txBody>
      </p:sp>
      <p:sp>
        <p:nvSpPr>
          <p:cNvPr id="21" name="文本框 20"/>
          <p:cNvSpPr txBox="1"/>
          <p:nvPr>
            <p:custDataLst>
              <p:tags r:id="rId9"/>
            </p:custDataLst>
          </p:nvPr>
        </p:nvSpPr>
        <p:spPr>
          <a:xfrm>
            <a:off x="7761920" y="5766548"/>
            <a:ext cx="3301015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Monthly changes in SO2 emission intensity from different sources in the PRD region from 1990 to 2023</a:t>
            </a:r>
            <a:endParaRPr lang="en-US" altLang="zh-CN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1315" y="1031240"/>
            <a:ext cx="3956685" cy="2292350"/>
          </a:xfrm>
          <a:prstGeom prst="rect">
            <a:avLst/>
          </a:prstGeom>
          <a:noFill/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9435" y="1031240"/>
            <a:ext cx="3804285" cy="2398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" y="987425"/>
            <a:ext cx="3956685" cy="2336165"/>
          </a:xfrm>
          <a:prstGeom prst="rect">
            <a:avLst/>
          </a:prstGeom>
          <a:noFill/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514658" y="3538595"/>
            <a:ext cx="3433397" cy="82994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zh-CN" sz="1200" dirty="0">
                <a:latin typeface="Times New Roman Regular" panose="02020603050405020304" charset="0"/>
                <a:cs typeface="Times New Roman Regular" panose="02020603050405020304" charset="0"/>
              </a:rPr>
              <a:t>Changes in NO</a:t>
            </a:r>
            <a:r>
              <a:rPr lang="en-US" altLang="zh-CN" sz="1200" baseline="-25000" dirty="0">
                <a:latin typeface="Times New Roman Regular" panose="02020603050405020304" charset="0"/>
                <a:cs typeface="Times New Roman Regular" panose="02020603050405020304" charset="0"/>
              </a:rPr>
              <a:t>x</a:t>
            </a:r>
            <a:r>
              <a:rPr lang="en-US" altLang="zh-CN" sz="1200" dirty="0">
                <a:latin typeface="Times New Roman Regular" panose="02020603050405020304" charset="0"/>
                <a:cs typeface="Times New Roman Regular" panose="02020603050405020304" charset="0"/>
              </a:rPr>
              <a:t> emission intensity from different sources in the PRD from 1990 to 2023, and changes in NO</a:t>
            </a:r>
            <a:r>
              <a:rPr lang="en-US" altLang="zh-CN" sz="1200" baseline="-25000" dirty="0">
                <a:latin typeface="Times New Roman Regular" panose="02020603050405020304" charset="0"/>
                <a:cs typeface="Times New Roman Regular" panose="02020603050405020304" charset="0"/>
              </a:rPr>
              <a:t>x</a:t>
            </a:r>
            <a:r>
              <a:rPr lang="en-US" altLang="zh-CN" sz="1200" dirty="0">
                <a:latin typeface="Times New Roman Regular" panose="02020603050405020304" charset="0"/>
                <a:cs typeface="Times New Roman Regular" panose="02020603050405020304" charset="0"/>
              </a:rPr>
              <a:t> emission intensity from different sources compared to 1990.</a:t>
            </a:r>
            <a:endParaRPr lang="en-US" altLang="zh-CN" sz="1200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30" name="文本框 29"/>
          <p:cNvSpPr txBox="1"/>
          <p:nvPr>
            <p:custDataLst>
              <p:tags r:id="rId8"/>
            </p:custDataLst>
          </p:nvPr>
        </p:nvSpPr>
        <p:spPr>
          <a:xfrm>
            <a:off x="696967" y="4709064"/>
            <a:ext cx="10796631" cy="181483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171450" indent="-171450">
              <a:buFont typeface="Arial" panose="020B0704020202020204" pitchFamily="34" charset="0"/>
              <a:buChar char="•"/>
            </a:pPr>
            <a:r>
              <a:rPr lang="en-US" altLang="zh-CN" sz="1600" dirty="0">
                <a:latin typeface="Times New Roman Regular" panose="02020603050405020304" charset="0"/>
                <a:cs typeface="Times New Roman Regular" panose="02020603050405020304" charset="0"/>
              </a:rPr>
              <a:t>Changes in emission structure determine the chemical constraint state of the sulfate–nitrate–ammonium system.</a:t>
            </a:r>
            <a:endParaRPr lang="en-US" altLang="zh-CN" sz="16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71450" indent="-171450">
              <a:buFont typeface="Arial" panose="020B0704020202020204" pitchFamily="34" charset="0"/>
              <a:buChar char="•"/>
            </a:pPr>
            <a:r>
              <a:rPr lang="en-US" altLang="zh-CN" sz="1600" dirty="0">
                <a:latin typeface="Times New Roman Regular" panose="02020603050405020304" charset="0"/>
                <a:cs typeface="Times New Roman Regular" panose="02020603050405020304" charset="0"/>
              </a:rPr>
              <a:t>NOₓ: Dominated by traffic, power, and industry. Pre-2012 increases were driven by traffic and power; post-2012 declines were also led by traffic (emission-standard upgrades).</a:t>
            </a:r>
            <a:endParaRPr lang="en-US" altLang="zh-CN" sz="16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71450" indent="-171450">
              <a:buFont typeface="Arial" panose="020B0704020202020204" pitchFamily="34" charset="0"/>
              <a:buChar char="•"/>
            </a:pPr>
            <a:r>
              <a:rPr lang="en-US" altLang="zh-CN" sz="1600" dirty="0">
                <a:latin typeface="Times New Roman Regular" panose="02020603050405020304" charset="0"/>
                <a:cs typeface="Times New Roman Regular" panose="02020603050405020304" charset="0"/>
              </a:rPr>
              <a:t>NH₃: Agricultural sector dominates (&gt;92% of total). High summer temperatures exacerbate volatilization, causing pronounced summer emission peaks.</a:t>
            </a:r>
            <a:endParaRPr lang="en-US" altLang="zh-CN" sz="16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71450" indent="-171450">
              <a:buFont typeface="Arial" panose="020B0704020202020204" pitchFamily="34" charset="0"/>
              <a:buChar char="•"/>
            </a:pPr>
            <a:r>
              <a:rPr lang="en-US" altLang="zh-CN" sz="1600" dirty="0">
                <a:latin typeface="Times New Roman Regular" panose="02020603050405020304" charset="0"/>
                <a:cs typeface="Times New Roman Regular" panose="02020603050405020304" charset="0"/>
              </a:rPr>
              <a:t>SO₂: Early dominance by power and industry. Power-sector SO₂ dropped ~94% from its 2006 peak due to fuel switching and FGD penetration; industrial SO₂ fell 61% from its 2011 peak but now constitutes &gt;87% of the remaining total.</a:t>
            </a:r>
            <a:endParaRPr lang="en-US" altLang="zh-CN" sz="1600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9"/>
            </p:custDataLst>
          </p:nvPr>
        </p:nvSpPr>
        <p:spPr>
          <a:xfrm>
            <a:off x="4693773" y="3498257"/>
            <a:ext cx="3433397" cy="82994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zh-CN" sz="1200" dirty="0">
                <a:latin typeface="Times New Roman Regular" panose="02020603050405020304" charset="0"/>
                <a:cs typeface="Times New Roman Regular" panose="02020603050405020304" charset="0"/>
              </a:rPr>
              <a:t>Changes in NH</a:t>
            </a:r>
            <a:r>
              <a:rPr lang="en-US" altLang="zh-CN" sz="1200" baseline="-25000" dirty="0">
                <a:latin typeface="Times New Roman Regular" panose="02020603050405020304" charset="0"/>
                <a:cs typeface="Times New Roman Regular" panose="02020603050405020304" charset="0"/>
              </a:rPr>
              <a:t>3</a:t>
            </a:r>
            <a:r>
              <a:rPr lang="en-US" altLang="zh-CN" sz="1200" dirty="0">
                <a:latin typeface="Times New Roman Regular" panose="02020603050405020304" charset="0"/>
                <a:cs typeface="Times New Roman Regular" panose="02020603050405020304" charset="0"/>
              </a:rPr>
              <a:t> emission intensity from different sources in the PRD from 1990 to 2023, and changes in NH</a:t>
            </a:r>
            <a:r>
              <a:rPr lang="en-US" altLang="zh-CN" sz="1200" baseline="-25000" dirty="0">
                <a:latin typeface="Times New Roman Regular" panose="02020603050405020304" charset="0"/>
                <a:cs typeface="Times New Roman Regular" panose="02020603050405020304" charset="0"/>
              </a:rPr>
              <a:t>3</a:t>
            </a:r>
            <a:r>
              <a:rPr lang="en-US" altLang="zh-CN" sz="1200" dirty="0">
                <a:latin typeface="Times New Roman Regular" panose="02020603050405020304" charset="0"/>
                <a:cs typeface="Times New Roman Regular" panose="02020603050405020304" charset="0"/>
              </a:rPr>
              <a:t> emission intensity from different sources compared to 1990.</a:t>
            </a:r>
            <a:endParaRPr lang="en-US" altLang="zh-CN" sz="1200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27" name="文本框 26"/>
          <p:cNvSpPr txBox="1"/>
          <p:nvPr>
            <p:custDataLst>
              <p:tags r:id="rId10"/>
            </p:custDataLst>
          </p:nvPr>
        </p:nvSpPr>
        <p:spPr>
          <a:xfrm>
            <a:off x="8667093" y="3524509"/>
            <a:ext cx="3433397" cy="82994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zh-CN" sz="1200" dirty="0">
                <a:latin typeface="Times New Roman Regular" panose="02020603050405020304" charset="0"/>
                <a:cs typeface="Times New Roman Regular" panose="02020603050405020304" charset="0"/>
              </a:rPr>
              <a:t>Changes in SO</a:t>
            </a:r>
            <a:r>
              <a:rPr lang="en-US" altLang="zh-CN" sz="1200" baseline="-25000" dirty="0">
                <a:latin typeface="Times New Roman Regular" panose="02020603050405020304" charset="0"/>
                <a:cs typeface="Times New Roman Regular" panose="02020603050405020304" charset="0"/>
              </a:rPr>
              <a:t>2</a:t>
            </a:r>
            <a:r>
              <a:rPr lang="en-US" altLang="zh-CN" sz="1200" dirty="0">
                <a:latin typeface="Times New Roman Regular" panose="02020603050405020304" charset="0"/>
                <a:cs typeface="Times New Roman Regular" panose="02020603050405020304" charset="0"/>
              </a:rPr>
              <a:t> emission intensity from different sources in the PRD from 1990 to 2023, and changes in SO</a:t>
            </a:r>
            <a:r>
              <a:rPr lang="en-US" altLang="zh-CN" sz="1200" baseline="-25000" dirty="0">
                <a:latin typeface="Times New Roman Regular" panose="02020603050405020304" charset="0"/>
                <a:cs typeface="Times New Roman Regular" panose="02020603050405020304" charset="0"/>
              </a:rPr>
              <a:t>2</a:t>
            </a:r>
            <a:r>
              <a:rPr lang="en-US" altLang="zh-CN" sz="1200" dirty="0">
                <a:latin typeface="Times New Roman Regular" panose="02020603050405020304" charset="0"/>
                <a:cs typeface="Times New Roman Regular" panose="02020603050405020304" charset="0"/>
              </a:rPr>
              <a:t> emission intensity from different sources compared to 1990.</a:t>
            </a:r>
            <a:endParaRPr lang="en-US" altLang="zh-CN" sz="1200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9" name="标题 1"/>
          <p:cNvSpPr txBox="1"/>
          <p:nvPr>
            <p:custDataLst>
              <p:tags r:id="rId11"/>
            </p:custDataLst>
          </p:nvPr>
        </p:nvSpPr>
        <p:spPr>
          <a:xfrm>
            <a:off x="94958" y="106261"/>
            <a:ext cx="10515600" cy="539841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fontScale="7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/>
              <a:t>Source-Structure Evolution of NOₓ, SO₂, and NH₃ in the PRD (1990–2023)</a:t>
            </a:r>
            <a:endParaRPr lang="zh-CN" altLang="en-US" sz="3200" dirty="0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圆角矩形 11"/>
          <p:cNvSpPr/>
          <p:nvPr>
            <p:custDataLst>
              <p:tags r:id="rId1"/>
            </p:custDataLst>
          </p:nvPr>
        </p:nvSpPr>
        <p:spPr>
          <a:xfrm>
            <a:off x="6223000" y="4646930"/>
            <a:ext cx="4957445" cy="167576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softEdge rad="31750"/>
          </a:effectLst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>
            <p:custDataLst>
              <p:tags r:id="rId2"/>
            </p:custDataLst>
          </p:nvPr>
        </p:nvSpPr>
        <p:spPr>
          <a:xfrm>
            <a:off x="6223000" y="2481580"/>
            <a:ext cx="4957445" cy="167576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softEdge rad="31750"/>
          </a:effectLst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5099050" cy="1719580"/>
          </a:xfrm>
        </p:spPr>
        <p:txBody>
          <a:bodyPr/>
          <a:p>
            <a:r>
              <a:rPr kumimoji="1"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Impacts of Reactive Nitrogen Changes on PM₂.₅ Composition</a:t>
            </a:r>
            <a:endParaRPr kumimoji="1" lang="en-US" altLang="zh-CN" sz="28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53670" y="2251710"/>
            <a:ext cx="5241290" cy="31197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softEdge rad="31750"/>
          </a:effectLst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>
            <p:custDataLst>
              <p:tags r:id="rId3"/>
            </p:custDataLst>
          </p:nvPr>
        </p:nvSpPr>
        <p:spPr>
          <a:xfrm>
            <a:off x="6223000" y="441960"/>
            <a:ext cx="4957445" cy="167576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softEdge rad="31750"/>
          </a:effectLst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27025" y="2519045"/>
            <a:ext cx="5033645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latin typeface="Times New Roman Regular" panose="02020603050405020304" charset="0"/>
                <a:cs typeface="Times New Roman Regular" panose="02020603050405020304" charset="0"/>
              </a:rPr>
              <a:t>Reveal the long-term evolution characteristics of anthropogenic PM emission patterns, source sturcture transitions in the PRD region. Identify the impacts of long-term changes of reactive nitrogen and sulfer emissions on the compositional shifts in PM</a:t>
            </a:r>
            <a:r>
              <a:rPr lang="zh-CN" altLang="en-US" sz="2000" baseline="-25000">
                <a:latin typeface="Times New Roman Regular" panose="02020603050405020304" charset="0"/>
                <a:cs typeface="Times New Roman Regular" panose="02020603050405020304" charset="0"/>
              </a:rPr>
              <a:t>2.5</a:t>
            </a:r>
            <a:r>
              <a:rPr lang="zh-CN" altLang="en-US" sz="2000">
                <a:latin typeface="Times New Roman Regular" panose="02020603050405020304" charset="0"/>
                <a:cs typeface="Times New Roman Regular" panose="02020603050405020304" charset="0"/>
              </a:rPr>
              <a:t>. Understand the nonlinear relation between NOx and NH3 variations and PM</a:t>
            </a:r>
            <a:r>
              <a:rPr lang="zh-CN" altLang="en-US" sz="2000" baseline="-25000">
                <a:latin typeface="Times New Roman Regular" panose="02020603050405020304" charset="0"/>
                <a:cs typeface="Times New Roman Regular" panose="02020603050405020304" charset="0"/>
              </a:rPr>
              <a:t>2.5</a:t>
            </a:r>
            <a:r>
              <a:rPr lang="zh-CN" altLang="en-US" sz="2000">
                <a:latin typeface="Times New Roman Regular" panose="02020603050405020304" charset="0"/>
                <a:cs typeface="Times New Roman Regular" panose="02020603050405020304" charset="0"/>
              </a:rPr>
              <a:t> concentrations.</a:t>
            </a:r>
            <a:endParaRPr lang="zh-CN" altLang="en-US" sz="20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620510" y="796290"/>
            <a:ext cx="39293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Times New Roman Regular" panose="02020603050405020304" charset="0"/>
                <a:cs typeface="Times New Roman Regular" panose="02020603050405020304" charset="0"/>
              </a:rPr>
              <a:t>Spatiotemporal variation characteristics of </a:t>
            </a:r>
            <a:r>
              <a:rPr lang="zh-CN" altLang="en-US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PM</a:t>
            </a:r>
            <a:r>
              <a:rPr lang="zh-CN" altLang="en-US" baseline="-250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2.5</a:t>
            </a:r>
            <a:r>
              <a:rPr lang="zh-CN" altLang="en-US">
                <a:latin typeface="Times New Roman Regular" panose="02020603050405020304" charset="0"/>
                <a:cs typeface="Times New Roman Regular" panose="02020603050405020304" charset="0"/>
              </a:rPr>
              <a:t> emissions across China</a:t>
            </a:r>
            <a:endParaRPr lang="zh-CN" altLang="en-US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620510" y="2835910"/>
            <a:ext cx="42678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Times New Roman Regular" panose="02020603050405020304" charset="0"/>
                <a:cs typeface="Times New Roman Regular" panose="02020603050405020304" charset="0"/>
              </a:rPr>
              <a:t>Spatiotemporal variation characteristics and evolution of emission source structures for </a:t>
            </a:r>
            <a:r>
              <a:rPr lang="zh-CN" altLang="en-US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PM</a:t>
            </a:r>
            <a:r>
              <a:rPr lang="zh-CN" altLang="en-US" baseline="-250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2.5</a:t>
            </a:r>
            <a:r>
              <a:rPr lang="zh-CN" altLang="en-US">
                <a:latin typeface="Times New Roman Regular" panose="02020603050405020304" charset="0"/>
                <a:cs typeface="Times New Roman Regular" panose="02020603050405020304" charset="0"/>
              </a:rPr>
              <a:t> in the PRD region</a:t>
            </a:r>
            <a:endParaRPr lang="zh-CN" altLang="en-US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20510" y="5152390"/>
            <a:ext cx="41255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Times New Roman Regular" panose="02020603050405020304" charset="0"/>
                <a:cs typeface="Times New Roman Regular" panose="02020603050405020304" charset="0"/>
              </a:rPr>
              <a:t>Compositional changes of </a:t>
            </a:r>
            <a:r>
              <a:rPr lang="zh-CN" altLang="en-US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PM</a:t>
            </a:r>
            <a:r>
              <a:rPr lang="zh-CN" altLang="en-US" baseline="-250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2.5</a:t>
            </a:r>
            <a:r>
              <a:rPr lang="zh-CN" altLang="en-US">
                <a:latin typeface="Times New Roman Regular" panose="02020603050405020304" charset="0"/>
                <a:cs typeface="Times New Roman Regular" panose="02020603050405020304" charset="0"/>
              </a:rPr>
              <a:t> in the Pearl River Delta </a:t>
            </a:r>
            <a:endParaRPr lang="zh-CN" altLang="en-US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cxnSp>
        <p:nvCxnSpPr>
          <p:cNvPr id="14" name="直接箭头连接符 13"/>
          <p:cNvCxnSpPr>
            <a:endCxn id="5" idx="1"/>
          </p:cNvCxnSpPr>
          <p:nvPr/>
        </p:nvCxnSpPr>
        <p:spPr>
          <a:xfrm flipV="1">
            <a:off x="5394960" y="1280160"/>
            <a:ext cx="828040" cy="1957070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endCxn id="11" idx="1"/>
          </p:cNvCxnSpPr>
          <p:nvPr>
            <p:custDataLst>
              <p:tags r:id="rId4"/>
            </p:custDataLst>
          </p:nvPr>
        </p:nvCxnSpPr>
        <p:spPr>
          <a:xfrm flipV="1">
            <a:off x="5427980" y="3319780"/>
            <a:ext cx="795020" cy="179705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7" idx="3"/>
            <a:endCxn id="12" idx="1"/>
          </p:cNvCxnSpPr>
          <p:nvPr>
            <p:custDataLst>
              <p:tags r:id="rId5"/>
            </p:custDataLst>
          </p:nvPr>
        </p:nvCxnSpPr>
        <p:spPr>
          <a:xfrm>
            <a:off x="5360670" y="3796030"/>
            <a:ext cx="862330" cy="1689100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02920" y="1584325"/>
            <a:ext cx="4250690" cy="3836670"/>
          </a:xfrm>
          <a:prstGeom prst="rect">
            <a:avLst/>
          </a:prstGeom>
        </p:spPr>
      </p:pic>
      <p:sp>
        <p:nvSpPr>
          <p:cNvPr id="37" name="文本框 36"/>
          <p:cNvSpPr txBox="1"/>
          <p:nvPr>
            <p:custDataLst>
              <p:tags r:id="rId3"/>
            </p:custDataLst>
          </p:nvPr>
        </p:nvSpPr>
        <p:spPr>
          <a:xfrm>
            <a:off x="647700" y="5877560"/>
            <a:ext cx="4250690" cy="5219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zh-CN" sz="1400" dirty="0"/>
              <a:t>Percentage of PM2.5 emissions from different sources in PRD from 1990 to 2023</a:t>
            </a:r>
            <a:endParaRPr lang="en-US" altLang="zh-CN" sz="1400" dirty="0"/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5749925" y="3729990"/>
            <a:ext cx="6079490" cy="266954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zh-CN" dirty="0"/>
              <a:t>PRD PM₂.₅ emission intensity peaked in 2006, consistent with the national trend.</a:t>
            </a:r>
            <a:endParaRPr lang="en-US" altLang="zh-CN" dirty="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zh-CN" dirty="0"/>
              <a:t>From 2010 to 2022, overall intensity dropped significantly, yet Guangzhou–Foshan and Shenzhen–Dongguan remain high-emission zones.</a:t>
            </a:r>
            <a:endParaRPr lang="en-US" altLang="zh-CN" dirty="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zh-CN" dirty="0"/>
              <a:t>Industrial PM₂.₅ share rose from 42% (1990) to 75% (2023), while power and residential shares declined continuously.</a:t>
            </a:r>
            <a:endParaRPr lang="en-US" altLang="zh-CN" dirty="0"/>
          </a:p>
        </p:txBody>
      </p:sp>
      <p:sp>
        <p:nvSpPr>
          <p:cNvPr id="6" name="标题 5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39699" y="0"/>
            <a:ext cx="11689443" cy="539841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 b="1" i="0" dirty="0">
                <a:solidFill>
                  <a:srgbClr val="3C3C58"/>
                </a:solidFill>
                <a:effectLst/>
                <a:latin typeface="Times New Roman Bold" panose="02020603050405020304" charset="0"/>
                <a:cs typeface="Times New Roman Bold" panose="02020603050405020304" charset="0"/>
              </a:rPr>
              <a:t>  PRD Spatiotemporal Trends and Source-Structure Evolution of PM₂.₅ (1990–2023)</a:t>
            </a:r>
            <a:endParaRPr lang="en-US" altLang="zh-CN" sz="2000" b="1" i="0" dirty="0">
              <a:solidFill>
                <a:srgbClr val="3C3C58"/>
              </a:solidFill>
              <a:effectLst/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276215" y="1229360"/>
            <a:ext cx="6680200" cy="1871345"/>
          </a:xfrm>
          <a:prstGeom prst="rect">
            <a:avLst/>
          </a:prstGeom>
        </p:spPr>
      </p:pic>
      <p:pic>
        <p:nvPicPr>
          <p:cNvPr id="9" name="图片 8" descr="截屏2026-08-17 上午9.13.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7810" y="2907665"/>
            <a:ext cx="4378960" cy="521335"/>
          </a:xfrm>
          <a:prstGeom prst="rect">
            <a:avLst/>
          </a:prstGeom>
        </p:spPr>
      </p:pic>
      <p:pic>
        <p:nvPicPr>
          <p:cNvPr id="10" name="图片 9" descr="截屏2026-08-17 上午9.13.4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93355" y="683260"/>
            <a:ext cx="1881505" cy="49593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65" y="722630"/>
            <a:ext cx="4556125" cy="250571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9790" y="793750"/>
            <a:ext cx="4556125" cy="252031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65" y="3512820"/>
            <a:ext cx="4556125" cy="252031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9790" y="3538855"/>
            <a:ext cx="4412615" cy="244221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9275445" y="1954530"/>
            <a:ext cx="291655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704020202020204" pitchFamily="34" charset="0"/>
              <a:buChar char="•"/>
              <a:defRPr/>
            </a:pPr>
            <a:r>
              <a:rPr kumimoji="1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Industrial sites (NH) recorded the highest concentrations; suburban sites (DG) the lowest.</a:t>
            </a:r>
            <a:endParaRPr kumimoji="1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704020202020204" pitchFamily="34" charset="0"/>
              <a:buChar char="•"/>
              <a:defRPr/>
            </a:pPr>
            <a:r>
              <a:rPr kumimoji="1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NH₃ and NH</a:t>
            </a:r>
            <a:r>
              <a:rPr kumimoji="1" lang="en-US" altLang="zh-CN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kumimoji="1" lang="en-US" altLang="zh-CN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kumimoji="1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exhibited distinct winter-high, summer-low seasonality.</a:t>
            </a:r>
            <a:endParaRPr kumimoji="1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704020202020204" pitchFamily="34" charset="0"/>
              <a:buChar char="•"/>
              <a:defRPr/>
            </a:pP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SNA averaged 43% of PM₂.₅ at DG (up to 50% in summer) and 50% at NH (up to 60% in summer),</a:t>
            </a:r>
            <a:r>
              <a:rPr kumimoji="1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indicating that summer PM₂.₅ in the PRD is largely driven by secondary inorganic aerosol formation.</a:t>
            </a:r>
            <a:endParaRPr kumimoji="1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704020202020204" pitchFamily="34" charset="0"/>
              <a:buChar char="•"/>
              <a:defRPr/>
            </a:pPr>
            <a:endParaRPr kumimoji="1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6985" y="1270"/>
            <a:ext cx="2025015" cy="1953260"/>
          </a:xfrm>
          <a:prstGeom prst="rect">
            <a:avLst/>
          </a:prstGeom>
        </p:spPr>
      </p:pic>
      <p:sp>
        <p:nvSpPr>
          <p:cNvPr id="17" name="标题 1"/>
          <p:cNvSpPr txBox="1"/>
          <p:nvPr/>
        </p:nvSpPr>
        <p:spPr>
          <a:xfrm>
            <a:off x="1263650" y="6117590"/>
            <a:ext cx="7152005" cy="502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1400" dirty="0"/>
              <a:t>PM2.5 and species concentration at 4 observation sites from 2007 to 2017 (from Prof. Yu)</a:t>
            </a:r>
            <a:endParaRPr kumimoji="1" lang="zh-CN" altLang="en-US" sz="1400" dirty="0"/>
          </a:p>
        </p:txBody>
      </p:sp>
      <p:sp>
        <p:nvSpPr>
          <p:cNvPr id="19" name="文本框 18"/>
          <p:cNvSpPr txBox="1"/>
          <p:nvPr/>
        </p:nvSpPr>
        <p:spPr>
          <a:xfrm>
            <a:off x="1050922" y="3778284"/>
            <a:ext cx="22245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1" dirty="0">
                <a:solidFill>
                  <a:prstClr val="black"/>
                </a:solidFill>
                <a:latin typeface="等线"/>
                <a:ea typeface="等线" panose="02010600030101010101" pitchFamily="2" charset="-122"/>
              </a:rPr>
              <a:t>Observation sites in PRD region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-1" y="37355"/>
            <a:ext cx="11754287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Observational Evidence of PM₂.₅ Component Changes in the PRD (2007–2017)</a:t>
            </a:r>
            <a:endParaRPr lang="zh-CN" altLang="en-US" dirty="0">
              <a:latin typeface="Times New Roman" panose="02020603050405020304" pitchFamily="18" charset="0"/>
              <a:ea typeface="宋体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kumimoji="1" lang="en-US" altLang="zh-CN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Seasonal asymmetry: NO₃⁻ contribution was low in summer (~5%) but high in winter (~15%); SO₄²⁻ showed the opposite pattern (summer ~30%, winter ~15%).</a:t>
            </a:r>
            <a:endParaRPr kumimoji="1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969000" y="3413760"/>
            <a:ext cx="5022215" cy="2715895"/>
          </a:xfrm>
          <a:prstGeom prst="rect">
            <a:avLst/>
          </a:prstGeom>
        </p:spPr>
      </p:pic>
      <p:sp>
        <p:nvSpPr>
          <p:cNvPr id="26" name="标题 1"/>
          <p:cNvSpPr txBox="1"/>
          <p:nvPr>
            <p:custDataLst>
              <p:tags r:id="rId3"/>
            </p:custDataLst>
          </p:nvPr>
        </p:nvSpPr>
        <p:spPr>
          <a:xfrm>
            <a:off x="6335395" y="6264910"/>
            <a:ext cx="4562475" cy="593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1400" dirty="0"/>
              <a:t>annual SNA change from 2007 - 2017 at site NS</a:t>
            </a:r>
            <a:endParaRPr kumimoji="1" lang="zh-CN" altLang="en-US" sz="1400" dirty="0"/>
          </a:p>
        </p:txBody>
      </p:sp>
      <p:sp>
        <p:nvSpPr>
          <p:cNvPr id="27" name="标题 1"/>
          <p:cNvSpPr txBox="1"/>
          <p:nvPr>
            <p:custDataLst>
              <p:tags r:id="rId4"/>
            </p:custDataLst>
          </p:nvPr>
        </p:nvSpPr>
        <p:spPr>
          <a:xfrm>
            <a:off x="1141095" y="6217285"/>
            <a:ext cx="4088130" cy="593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1400" dirty="0"/>
              <a:t>SNA/PM ratio from 2007 - 2017 at s</a:t>
            </a:r>
            <a:r>
              <a:rPr kumimoji="1" lang="en-US" altLang="zh-CN" sz="1400" dirty="0"/>
              <a:t>ite</a:t>
            </a:r>
            <a:r>
              <a:rPr kumimoji="1" lang="zh-CN" altLang="en-US" sz="1400" dirty="0"/>
              <a:t> NH</a:t>
            </a:r>
            <a:endParaRPr kumimoji="1" lang="zh-CN" altLang="en-US" sz="1400" dirty="0"/>
          </a:p>
        </p:txBody>
      </p:sp>
      <p:pic>
        <p:nvPicPr>
          <p:cNvPr id="28" name="图片 2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80440" y="3119755"/>
            <a:ext cx="4408805" cy="3210560"/>
          </a:xfrm>
          <a:prstGeom prst="rect">
            <a:avLst/>
          </a:prstGeom>
        </p:spPr>
      </p:pic>
      <p:sp>
        <p:nvSpPr>
          <p:cNvPr id="30" name="文本框 29"/>
          <p:cNvSpPr txBox="1"/>
          <p:nvPr>
            <p:custDataLst>
              <p:tags r:id="rId7"/>
            </p:custDataLst>
          </p:nvPr>
        </p:nvSpPr>
        <p:spPr>
          <a:xfrm>
            <a:off x="-1" y="37355"/>
            <a:ext cx="11754287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Observational Evidence of PM₂.₅ Component Changes in the PRD (2007–2017)</a:t>
            </a:r>
            <a:endParaRPr lang="en-US" altLang="zh-CN" sz="2000" i="0" dirty="0">
              <a:effectLst/>
              <a:latin typeface="Times New Roman" panose="02020603050405020304" pitchFamily="18" charset="0"/>
              <a:ea typeface="宋体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0"/>
            <a:ext cx="1183822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Variation of Atmospheric N concentration at </a:t>
            </a:r>
            <a:r>
              <a:rPr kumimoji="1"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Baiyun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station  (2010-2020)   </a:t>
            </a:r>
            <a:endParaRPr kumimoji="1"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图片 20" descr="图表, 折线图&#10;&#10;描述已自动生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3" y="823726"/>
            <a:ext cx="2566153" cy="2062214"/>
          </a:xfrm>
          <a:prstGeom prst="rect">
            <a:avLst/>
          </a:prstGeom>
        </p:spPr>
      </p:pic>
      <p:pic>
        <p:nvPicPr>
          <p:cNvPr id="24" name="图片 23" descr="图表, 直方图&#10;&#10;描述已自动生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3" y="2986088"/>
            <a:ext cx="2531180" cy="2097639"/>
          </a:xfrm>
          <a:prstGeom prst="rect">
            <a:avLst/>
          </a:prstGeom>
        </p:spPr>
      </p:pic>
      <p:pic>
        <p:nvPicPr>
          <p:cNvPr id="26" name="图片 25" descr="图表, 折线图&#10;&#10;描述已自动生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7011" y="823726"/>
            <a:ext cx="2523331" cy="2062215"/>
          </a:xfrm>
          <a:prstGeom prst="rect">
            <a:avLst/>
          </a:prstGeom>
        </p:spPr>
      </p:pic>
      <p:pic>
        <p:nvPicPr>
          <p:cNvPr id="28" name="图片 27" descr="图表, 折线图&#10;&#10;描述已自动生成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591" y="777714"/>
            <a:ext cx="2628525" cy="2154238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56084" y="5314446"/>
            <a:ext cx="107260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Reduced nitrogen (NH₃, NH₄⁺) concentrations in the PRD continued to increase, while oxidized nitrogen (NOₓ, NO₃⁻) decreased gradually.</a:t>
            </a:r>
            <a:endParaRPr lang="en-US" altLang="zh-CN" dirty="0">
              <a:solidFill>
                <a:prstClr val="black"/>
              </a:solidFill>
              <a:latin typeface="Times New Roman" panose="02020603050405020304" pitchFamily="18" charset="0"/>
              <a:ea typeface="宋体"/>
              <a:cs typeface="Times New Roman" panose="02020603050405020304" pitchFamily="18" charset="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The rising ratio of reduced-to-oxidized nitrogen may be fundamentally altering PM₂.₅ composition.</a:t>
            </a:r>
            <a:endParaRPr lang="en-US" altLang="zh-CN" dirty="0">
              <a:solidFill>
                <a:prstClr val="black"/>
              </a:solidFill>
              <a:latin typeface="Times New Roman" panose="02020603050405020304" pitchFamily="18" charset="0"/>
              <a:ea typeface="宋体"/>
              <a:cs typeface="Times New Roman" panose="02020603050405020304" pitchFamily="18" charset="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Diagnostic question: As SO₂ and NOₓ continue to decline, has NH₃ become the critical bottleneck preventing further PM₂.₅ reductions?</a:t>
            </a:r>
            <a:endParaRPr lang="zh-CN" altLang="en-US" dirty="0">
              <a:solidFill>
                <a:prstClr val="black"/>
              </a:solidFill>
              <a:latin typeface="Times New Roman" panose="02020603050405020304" pitchFamily="18" charset="0"/>
              <a:ea typeface="宋体"/>
              <a:cs typeface="Times New Roman" panose="02020603050405020304" pitchFamily="18" charset="0"/>
            </a:endParaRPr>
          </a:p>
        </p:txBody>
      </p:sp>
      <p:pic>
        <p:nvPicPr>
          <p:cNvPr id="15" name="图片 14" descr="图表, 直方图&#10;&#10;描述已自动生成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2780" y="2931952"/>
            <a:ext cx="2683336" cy="219018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376" y="3078254"/>
            <a:ext cx="2736599" cy="200547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9337040" y="3560445"/>
                <a:ext cx="2737485" cy="11068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等线" panose="02010600030101010101" pitchFamily="2" charset="-122"/>
                    <a:cs typeface="+mn-cs"/>
                  </a:rPr>
                  <a:t>Define reduced /oxidized nitrogen molar ratio: </a:t>
                </a:r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𝑅</m:t>
                      </m:r>
                      <m:r>
                        <a:rPr kumimoji="0" lang="zh-CN" alt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zh-CN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zh-CN" alt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𝑁𝐻</m:t>
                              </m:r>
                            </m:e>
                            <m:sub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0" lang="zh-CN" alt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𝑁𝑂</m:t>
                              </m:r>
                            </m:e>
                            <m:sub>
                              <m:r>
                                <a:rPr kumimoji="0" lang="en-US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0" lang="zh-CN" alt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8"/>
                </p:custDataLst>
              </p:nvPr>
            </p:nvSpPr>
            <p:spPr>
              <a:xfrm>
                <a:off x="9337040" y="3560445"/>
                <a:ext cx="2737485" cy="110680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5195570"/>
            <a:ext cx="10515600" cy="149415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CN" sz="1800"/>
          </a:p>
          <a:p>
            <a:r>
              <a:rPr lang="en-US" altLang="zh-CN" sz="1800"/>
              <a:t>module summer SNA is only about 1/5 of winter SNA</a:t>
            </a:r>
            <a:endParaRPr lang="en-US" altLang="zh-CN" sz="1800"/>
          </a:p>
          <a:p>
            <a:pPr marL="0" indent="0">
              <a:buNone/>
            </a:pPr>
            <a:endParaRPr lang="zh-CN" altLang="en-US" sz="1800"/>
          </a:p>
        </p:txBody>
      </p:sp>
      <p:pic>
        <p:nvPicPr>
          <p:cNvPr id="4" name="图片 3" descr="截屏2025-06-18 上午9.41.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4435" y="909320"/>
            <a:ext cx="5419725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2745" y="88265"/>
            <a:ext cx="10515600" cy="1325563"/>
          </a:xfrm>
        </p:spPr>
        <p:txBody>
          <a:bodyPr/>
          <a:p>
            <a:r>
              <a:rPr lang="en-US" altLang="zh-CN" sz="3200"/>
              <a:t>S</a:t>
            </a:r>
            <a:r>
              <a:rPr lang="zh-CN" altLang="en-US" sz="3200"/>
              <a:t>tatistical methods</a:t>
            </a:r>
            <a:endParaRPr lang="zh-CN" altLang="en-US" sz="32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9905" y="551180"/>
            <a:ext cx="6200140" cy="4351655"/>
          </a:xfrm>
        </p:spPr>
        <p:txBody>
          <a:bodyPr>
            <a:normAutofit lnSpcReduction="20000"/>
          </a:bodyPr>
          <a:p>
            <a:pPr marL="0" indent="0">
              <a:buNone/>
            </a:pPr>
            <a:endParaRPr lang="en-US" altLang="zh-CN"/>
          </a:p>
          <a:p>
            <a:r>
              <a:rPr lang="en-US" altLang="zh-CN"/>
              <a:t>Multiple linear regression</a:t>
            </a:r>
            <a:endParaRPr lang="en-US" altLang="zh-CN"/>
          </a:p>
          <a:p>
            <a:r>
              <a:rPr lang="en-US" altLang="zh-CN"/>
              <a:t>examine relationship between a dependent variable and multiple independent variables</a:t>
            </a:r>
            <a:endParaRPr lang="en-US" altLang="zh-CN"/>
          </a:p>
          <a:p>
            <a:r>
              <a:rPr lang="en-US" altLang="zh-CN"/>
              <a:t>Principal component analysis</a:t>
            </a:r>
            <a:endParaRPr lang="en-US" altLang="zh-CN"/>
          </a:p>
          <a:p>
            <a:r>
              <a:rPr lang="en-US" altLang="zh-CN"/>
              <a:t>to extractorthogonal covariation modes(distinguishtherespectivecontributionofeachemissionsourcetothtotalemission</a:t>
            </a:r>
            <a:endParaRPr lang="en-US" altLang="zh-CN"/>
          </a:p>
          <a:p>
            <a:r>
              <a:rPr lang="en-US" altLang="zh-CN"/>
              <a:t>Principal component regression</a:t>
            </a:r>
            <a:endParaRPr lang="en-US" altLang="zh-CN"/>
          </a:p>
        </p:txBody>
      </p:sp>
      <p:pic>
        <p:nvPicPr>
          <p:cNvPr id="4" name="图片 3" descr="截屏2026-09-16 上午9.43.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4290" y="714375"/>
            <a:ext cx="5105400" cy="2714625"/>
          </a:xfrm>
          <a:prstGeom prst="rect">
            <a:avLst/>
          </a:prstGeom>
        </p:spPr>
      </p:pic>
      <p:pic>
        <p:nvPicPr>
          <p:cNvPr id="5" name="图片 4" descr="截屏2026-09-16 上午9.43.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0045" y="3925570"/>
            <a:ext cx="4991100" cy="2905125"/>
          </a:xfrm>
          <a:prstGeom prst="rect">
            <a:avLst/>
          </a:prstGeom>
        </p:spPr>
      </p:pic>
      <p:pic>
        <p:nvPicPr>
          <p:cNvPr id="6" name="图片 5" descr="截屏2026-09-16 上午9.43.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20" y="3827780"/>
            <a:ext cx="5048250" cy="1200150"/>
          </a:xfrm>
          <a:prstGeom prst="rect">
            <a:avLst/>
          </a:prstGeom>
        </p:spPr>
      </p:pic>
      <p:pic>
        <p:nvPicPr>
          <p:cNvPr id="7" name="图片 6" descr="截屏2026-09-16 上午9.43.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120" y="5027930"/>
            <a:ext cx="493395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4196" y="1184751"/>
            <a:ext cx="7395776" cy="265032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229411" y="219852"/>
            <a:ext cx="10515600" cy="646331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200" b="1" dirty="0">
                <a:latin typeface="Times New Roman Bold" panose="02020603050405020304" charset="0"/>
                <a:cs typeface="Times New Roman Bold" panose="02020603050405020304" charset="0"/>
              </a:rPr>
              <a:t> China’s PM₂.₅ Governance Enters a New Stage</a:t>
            </a:r>
            <a:endParaRPr lang="en-US" altLang="zh-CN" sz="2200" b="1" dirty="0"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54516" y="4391696"/>
            <a:ext cx="90102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zh-CN" dirty="0">
                <a:latin typeface="Times New Roman Regular" panose="02020603050405020304" charset="0"/>
                <a:cs typeface="Times New Roman Regular" panose="02020603050405020304" charset="0"/>
              </a:rPr>
              <a:t>March 2026: revised Ambient Air Quality Standards enacted. The Ministry of Ecology and Environment targets Beautiful China 2035 goals and alignment with WHO Interim Target-2 (25 µg m⁻³).</a:t>
            </a:r>
            <a:endParaRPr lang="en-US" altLang="zh-CN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zh-CN" dirty="0">
                <a:latin typeface="Times New Roman Regular" panose="02020603050405020304" charset="0"/>
                <a:cs typeface="Times New Roman Regular" panose="02020603050405020304" charset="0"/>
              </a:rPr>
              <a:t>Primary PM controls are now well-defined; secondary inorganic aerosols require synergistic control of NOₓ, VOCs, SO₂, and NH₃, with coordinated governance of PM₂.₅ and O₃.</a:t>
            </a:r>
            <a:endParaRPr lang="en-US" altLang="zh-CN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5343525" y="6551295"/>
            <a:ext cx="68484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Times New Roman Regular" panose="02020603050405020304" charset="0"/>
                <a:cs typeface="Times New Roman Regular" panose="02020603050405020304" charset="0"/>
              </a:rPr>
              <a:t>from</a:t>
            </a:r>
            <a:r>
              <a:rPr lang="en-US" altLang="zh-CN" sz="1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</a:t>
            </a:r>
            <a:r>
              <a:rPr lang="zh-CN" altLang="en-US" sz="1400">
                <a:latin typeface="Times New Roman Regular" panose="02020603050405020304" charset="0"/>
                <a:cs typeface="Times New Roman Regular" panose="02020603050405020304" charset="0"/>
              </a:rPr>
              <a:t>https://mp.weixin.qq.com/s/buY5iu-Dq77Vx5nbeK4gDA?scene=1&amp;click_id=1</a:t>
            </a:r>
            <a:endParaRPr lang="zh-CN" altLang="en-US" sz="14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8410575" y="3747135"/>
            <a:ext cx="9696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Times New Roman Regular" panose="02020603050405020304" charset="0"/>
                <a:cs typeface="Times New Roman Regular" panose="02020603050405020304" charset="0"/>
              </a:rPr>
              <a:t>µg/m³</a:t>
            </a:r>
            <a:endParaRPr lang="zh-CN" altLang="en-US" sz="16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3985" y="0"/>
            <a:ext cx="10515600" cy="861060"/>
          </a:xfrm>
        </p:spPr>
        <p:txBody>
          <a:bodyPr>
            <a:normAutofit/>
          </a:bodyPr>
          <a:lstStyle/>
          <a:p>
            <a:r>
              <a:rPr kumimoji="1"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7. </a:t>
            </a:r>
            <a:r>
              <a:rPr lang="en-US" altLang="zh-CN" sz="2000" kern="1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Future Work &amp; Expected Outcomes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61415" y="1461135"/>
            <a:ext cx="8382000" cy="2306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Has sulfate decline altered ammonia partitioning, thereby enhancing nitrate formation potential?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How does the oxidized-to-reduced nitrogen emission structure affect secondary aerosol formation, PM₂.₅, and O₃?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What are the atmospheric nitrogen deposition fluxes and their ecological consequences in the PRD?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What future emission-reduction scenarios and PM₂.₅–O₃ synergistic control pathways are optimal for the PRD?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783772" y="109157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Key Questions: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609600" y="39529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Expected Outcomes: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1161143" y="4322295"/>
            <a:ext cx="1007291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zh-CN" dirty="0"/>
              <a:t>A closed-loop analysis from emissions → chemical transformation → deposition → policy scenario for PRD reactive nitrogen.</a:t>
            </a:r>
            <a:endParaRPr lang="en-US" altLang="zh-CN" dirty="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zh-CN" dirty="0"/>
              <a:t>A science-based, region-specific roadmap for transitioning PRD air quality management into the “NH₃-sensitive” era.</a:t>
            </a:r>
            <a:endParaRPr lang="zh-CN" altLang="en-US" dirty="0"/>
          </a:p>
        </p:txBody>
      </p:sp>
      <p:pic>
        <p:nvPicPr>
          <p:cNvPr id="3" name="图片 2" descr="截屏2026-08-17 上午9.40.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4795" y="455295"/>
            <a:ext cx="4162425" cy="38671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59656" y="199962"/>
            <a:ext cx="113066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altLang="zh-CN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Preliminary Results 1.4: Changes in Oxidized vs. Reduced Nitrogen Emission Structure in the PRD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78999" y="848614"/>
            <a:ext cx="107105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/>
              <a:t>NOₓ, SO₂, and NH₃ collectively determine precursor availability for the sulfate–nitrate–ammonium system.</a:t>
            </a:r>
            <a:endParaRPr lang="en-US" altLang="zh-CN" sz="1400" dirty="0"/>
          </a:p>
        </p:txBody>
      </p:sp>
      <p:sp>
        <p:nvSpPr>
          <p:cNvPr id="6" name="文本框 5"/>
          <p:cNvSpPr txBox="1"/>
          <p:nvPr/>
        </p:nvSpPr>
        <p:spPr>
          <a:xfrm>
            <a:off x="578999" y="1834106"/>
            <a:ext cx="338826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To compare emissions on a nitrogen-element basis. </a:t>
            </a:r>
            <a:endParaRPr lang="en-US" altLang="zh-CN" sz="1400" dirty="0"/>
          </a:p>
          <a:p>
            <a:r>
              <a:rPr lang="en-US" altLang="zh-CN" sz="1400" dirty="0"/>
              <a:t>Oxidized/Reduced Nitrogen Ratio: </a:t>
            </a:r>
            <a:endParaRPr lang="zh-CN" alt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30651" y="2655841"/>
                <a:ext cx="3872023" cy="5334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zh-CN" altLang="en-US" sz="1400" i="1">
                              <a:latin typeface="Cambria Math" panose="02040503050406030204" pitchFamily="18" charset="0"/>
                            </a:rPr>
                            <m:t>𝑂𝑥</m:t>
                          </m:r>
                          <m:f>
                            <m:fPr>
                              <m:type m:val="lin"/>
                              <m:ctrlP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den>
                          </m:f>
                          <m:r>
                            <a:rPr lang="zh-CN" altLang="en-US" sz="1400" i="1">
                              <a:latin typeface="Cambria Math" panose="02040503050406030204" pitchFamily="18" charset="0"/>
                            </a:rPr>
                            <m:t>𝑒𝑑𝑁</m:t>
                          </m:r>
                        </m:sub>
                      </m:sSub>
                      <m:r>
                        <a:rPr lang="zh-CN" altLang="en-US" sz="1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𝑜𝑥𝑁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𝑅𝑒𝑑𝑁</m:t>
                              </m:r>
                            </m:sub>
                          </m:sSub>
                        </m:den>
                      </m:f>
                      <m:r>
                        <a:rPr lang="zh-CN" altLang="en-US" sz="1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𝑁𝑂𝑥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𝑁𝐻</m:t>
                              </m:r>
                              <m:r>
                                <a:rPr lang="zh-CN" altLang="en-US" sz="14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zh-CN" altLang="en-US" sz="1400" i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zh-CN" alt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400" i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zh-CN" altLang="en-US" sz="1400" i="0">
                              <a:latin typeface="Cambria Math" panose="02040503050406030204" pitchFamily="18" charset="0"/>
                            </a:rPr>
                            <m:t>46</m:t>
                          </m:r>
                        </m:den>
                      </m:f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51" y="2655841"/>
                <a:ext cx="3872023" cy="533416"/>
              </a:xfrm>
              <a:prstGeom prst="rect">
                <a:avLst/>
              </a:prstGeom>
              <a:blipFill rotWithShape="1">
                <a:blip r:embed="rId2"/>
                <a:stretch>
                  <a:fillRect l="-4" t="-51" r="15" b="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/>
          <p:cNvSpPr txBox="1"/>
          <p:nvPr/>
        </p:nvSpPr>
        <p:spPr>
          <a:xfrm>
            <a:off x="524114" y="3429000"/>
            <a:ext cx="3233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zh-CN" sz="1400" b="0" i="0" dirty="0">
                <a:effectLst/>
                <a:latin typeface="Segoe UI" panose="020B0502040204020203" pitchFamily="34" charset="0"/>
              </a:rPr>
              <a:t>Potential Acid Precursor / Ammonia Molar Ratio:</a:t>
            </a:r>
            <a:endParaRPr lang="zh-CN" alt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0" y="4040348"/>
                <a:ext cx="3254444" cy="6744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zh-CN" altLang="en-US" sz="1400" i="1">
                              <a:latin typeface="Cambria Math" panose="02040503050406030204" pitchFamily="18" charset="0"/>
                            </a:rPr>
                            <m:t>𝑎𝑐𝑖</m:t>
                          </m:r>
                          <m:f>
                            <m:fPr>
                              <m:type m:val="lin"/>
                              <m:ctrlP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r>
                            <a:rPr lang="zh-CN" altLang="en-US" sz="1400" i="1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zh-CN" altLang="en-US" sz="1400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sz="1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400" i="0">
                              <a:latin typeface="Cambria Math" panose="02040503050406030204" pitchFamily="18" charset="0"/>
                            </a:rPr>
                            <m:t>2</m:t>
                          </m:r>
                          <m:f>
                            <m:fPr>
                              <m:ctrlP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  <m:t>𝑆𝑂</m:t>
                                  </m:r>
                                  <m:r>
                                    <a:rPr lang="zh-CN" alt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sz="1400" i="0">
                                  <a:latin typeface="Cambria Math" panose="02040503050406030204" pitchFamily="18" charset="0"/>
                                </a:rPr>
                                <m:t>64</m:t>
                              </m:r>
                            </m:den>
                          </m:f>
                          <m:r>
                            <a:rPr lang="zh-CN" altLang="en-US" sz="1400" i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  <m:t>𝑁𝑂𝑥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sz="1400" i="0">
                                  <a:latin typeface="Cambria Math" panose="02040503050406030204" pitchFamily="18" charset="0"/>
                                </a:rPr>
                                <m:t>46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type m:val="lin"/>
                              <m:ctrlP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  <m:t>𝑁𝐻</m:t>
                                  </m:r>
                                  <m:r>
                                    <a:rPr lang="zh-CN" altLang="en-US" sz="1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sz="1400" i="0">
                                  <a:latin typeface="Cambria Math" panose="02040503050406030204" pitchFamily="18" charset="0"/>
                                </a:rPr>
                                <m:t>17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040348"/>
                <a:ext cx="3254444" cy="674480"/>
              </a:xfrm>
              <a:prstGeom prst="rect">
                <a:avLst/>
              </a:prstGeom>
              <a:blipFill rotWithShape="1">
                <a:blip r:embed="rId3"/>
                <a:stretch>
                  <a:fillRect t="-71" r="2" b="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8"/>
          <p:cNvSpPr txBox="1"/>
          <p:nvPr/>
        </p:nvSpPr>
        <p:spPr>
          <a:xfrm>
            <a:off x="4428688" y="4451392"/>
            <a:ext cx="41331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Changes in the ratio of oxidized/reduced nitrogen emissions (</a:t>
            </a:r>
            <a:r>
              <a:rPr lang="en-US" altLang="zh-CN" sz="1200" i="1" dirty="0" err="1"/>
              <a:t>R</a:t>
            </a:r>
            <a:r>
              <a:rPr lang="en-US" altLang="zh-CN" sz="1200" i="1" baseline="-25000" dirty="0" err="1"/>
              <a:t>OxN</a:t>
            </a:r>
            <a:r>
              <a:rPr lang="en-US" altLang="zh-CN" sz="1200" i="1" baseline="-25000" dirty="0"/>
              <a:t>/</a:t>
            </a:r>
            <a:r>
              <a:rPr lang="en-US" altLang="zh-CN" sz="1200" i="1" baseline="-25000" dirty="0" err="1"/>
              <a:t>RedN</a:t>
            </a:r>
            <a:r>
              <a:rPr lang="en-US" altLang="zh-CN" sz="1200" dirty="0"/>
              <a:t>) and oxidized/reduced nitrogen emissions (</a:t>
            </a:r>
            <a:r>
              <a:rPr lang="zh-CN" altLang="en-US" sz="1200" dirty="0"/>
              <a:t>𝑅</a:t>
            </a:r>
            <a:r>
              <a:rPr lang="zh-CN" altLang="en-US" sz="1200" baseline="-25000" dirty="0"/>
              <a:t>𝑎𝑐𝑖𝑑∕𝑁𝐻</a:t>
            </a:r>
            <a:r>
              <a:rPr lang="en-US" altLang="zh-CN" sz="1200" baseline="-25000" dirty="0"/>
              <a:t>3</a:t>
            </a:r>
            <a:r>
              <a:rPr lang="en-US" altLang="zh-CN" sz="1200" dirty="0"/>
              <a:t>) from 1990 to 2023 in PRD</a:t>
            </a:r>
            <a:endParaRPr lang="zh-CN" altLang="en-US" sz="1200" dirty="0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093" y="1427275"/>
            <a:ext cx="4155810" cy="3015681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232410" y="5106035"/>
            <a:ext cx="11598910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zh-CN" sz="1600" b="1" dirty="0"/>
              <a:t>1990–2012: </a:t>
            </a:r>
            <a:r>
              <a:rPr lang="en-US" altLang="zh-CN" sz="1600" b="1" dirty="0" err="1"/>
              <a:t>R</a:t>
            </a:r>
            <a:r>
              <a:rPr lang="en-US" altLang="zh-CN" sz="1600" b="1" baseline="-25000" dirty="0" err="1"/>
              <a:t>OxN</a:t>
            </a:r>
            <a:r>
              <a:rPr lang="en-US" altLang="zh-CN" sz="1600" b="1" baseline="-25000" dirty="0"/>
              <a:t>/</a:t>
            </a:r>
            <a:r>
              <a:rPr lang="en-US" altLang="zh-CN" sz="1600" b="1" baseline="-25000" dirty="0" err="1"/>
              <a:t>RedN</a:t>
            </a:r>
            <a:r>
              <a:rPr lang="en-US" altLang="zh-CN" sz="1600" b="1" dirty="0"/>
              <a:t>​ rose from 0.6 to 2.86 (NOₓ grew faster than NH₃).</a:t>
            </a:r>
            <a:endParaRPr lang="en-US" altLang="zh-CN" sz="1600" b="1" dirty="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zh-CN" sz="1600" b="1" dirty="0"/>
              <a:t>2012–2023:  </a:t>
            </a:r>
            <a:r>
              <a:rPr lang="en-US" altLang="zh-CN" sz="1600" b="1" dirty="0" err="1"/>
              <a:t>R</a:t>
            </a:r>
            <a:r>
              <a:rPr lang="en-US" altLang="zh-CN" sz="1600" b="1" baseline="-25000" dirty="0" err="1"/>
              <a:t>OxN</a:t>
            </a:r>
            <a:r>
              <a:rPr lang="en-US" altLang="zh-CN" sz="1600" b="1" baseline="-25000" dirty="0"/>
              <a:t>/</a:t>
            </a:r>
            <a:r>
              <a:rPr lang="en-US" altLang="zh-CN" sz="1600" b="1" baseline="-25000" dirty="0" err="1"/>
              <a:t>RedN</a:t>
            </a:r>
            <a:r>
              <a:rPr lang="en-US" altLang="zh-CN" sz="1600" b="1" dirty="0" err="1"/>
              <a:t>declined</a:t>
            </a:r>
            <a:r>
              <a:rPr lang="en-US" altLang="zh-CN" sz="1600" b="1" dirty="0"/>
              <a:t> slowly (NOₓ fell faster than NH₃), increasing the relative share of reduced nitrogen.</a:t>
            </a:r>
            <a:endParaRPr lang="en-US" altLang="zh-CN" sz="1600" b="1" dirty="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zh-CN" sz="1600" b="1" dirty="0" err="1"/>
              <a:t>Racid</a:t>
            </a:r>
            <a:r>
              <a:rPr lang="en-US" altLang="zh-CN" sz="1600" b="1" dirty="0"/>
              <a:t>/NH3​​ declined post-2012, indicating enhanced NH₃ supply relative to acidic precursors.</a:t>
            </a:r>
            <a:endParaRPr lang="en-US" altLang="zh-CN" sz="1600" b="1" dirty="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zh-CN" sz="1600" b="1" dirty="0"/>
              <a:t>Hypothesis: As SO₂ and NOₓ decline faster than NH₃, the PRD system is becoming increasingly NH₃-rich. This may elevate nitrate dependence on NOₓ oxidation products, meteorology, and regional transport. This hypothesis will be tested in subsequent chapters via observations and chemical-transport sensitivity experiments.</a:t>
            </a:r>
            <a:endParaRPr lang="en-US" altLang="zh-CN" sz="1600" b="1" dirty="0"/>
          </a:p>
        </p:txBody>
      </p:sp>
      <p:sp>
        <p:nvSpPr>
          <p:cNvPr id="25" name="文本框 24"/>
          <p:cNvSpPr txBox="1"/>
          <p:nvPr/>
        </p:nvSpPr>
        <p:spPr>
          <a:xfrm>
            <a:off x="8696479" y="1949491"/>
            <a:ext cx="3282394" cy="203132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/>
              <a:t>NH₃ preferentially neutralizes the strongest acid, H₂SO₄ (irreversible)</a:t>
            </a:r>
            <a:r>
              <a:rPr lang="zh-CN" altLang="en-US" sz="1400" dirty="0"/>
              <a:t>：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en-US" altLang="zh-CN" sz="1400" dirty="0"/>
              <a:t>            2NH</a:t>
            </a:r>
            <a:r>
              <a:rPr lang="en-US" altLang="zh-CN" sz="1400" baseline="-25000" dirty="0"/>
              <a:t>3</a:t>
            </a:r>
            <a:r>
              <a:rPr lang="en-US" altLang="zh-CN" sz="1400" dirty="0"/>
              <a:t>+H</a:t>
            </a:r>
            <a:r>
              <a:rPr lang="en-US" altLang="zh-CN" sz="1400" baseline="-25000" dirty="0"/>
              <a:t>2</a:t>
            </a:r>
            <a:r>
              <a:rPr lang="en-US" altLang="zh-CN" sz="1400" dirty="0"/>
              <a:t>SO</a:t>
            </a:r>
            <a:r>
              <a:rPr lang="en-US" altLang="zh-CN" sz="1400" baseline="-25000" dirty="0"/>
              <a:t>4</a:t>
            </a:r>
            <a:r>
              <a:rPr lang="en-US" altLang="zh-CN" sz="1400" dirty="0"/>
              <a:t>→(NH</a:t>
            </a:r>
            <a:r>
              <a:rPr lang="en-US" altLang="zh-CN" sz="1400" baseline="-25000" dirty="0"/>
              <a:t>4</a:t>
            </a:r>
            <a:r>
              <a:rPr lang="en-US" altLang="zh-CN" sz="1400" dirty="0"/>
              <a:t>)</a:t>
            </a:r>
            <a:r>
              <a:rPr lang="en-US" altLang="zh-CN" sz="1400" baseline="-25000" dirty="0"/>
              <a:t>2</a:t>
            </a:r>
            <a:r>
              <a:rPr lang="en-US" altLang="zh-CN" sz="1400" dirty="0"/>
              <a:t>SO</a:t>
            </a:r>
            <a:r>
              <a:rPr lang="en-US" altLang="zh-CN" sz="1400" baseline="-25000" dirty="0"/>
              <a:t>4</a:t>
            </a:r>
            <a:r>
              <a:rPr lang="en-US" altLang="zh-CN" sz="1400" dirty="0"/>
              <a:t>  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en-US" altLang="zh-CN" sz="1400" dirty="0"/>
              <a:t>any remaining NH₃ establishes a semi-volatile equilibrium with HNO₃</a:t>
            </a:r>
            <a:r>
              <a:rPr lang="zh-CN" altLang="en-US" sz="1400" dirty="0"/>
              <a:t>：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en-US" altLang="zh-CN" sz="1400" dirty="0"/>
              <a:t>         </a:t>
            </a:r>
            <a:r>
              <a:rPr lang="zh-CN" altLang="en-US" sz="1400" dirty="0"/>
              <a:t>￼  </a:t>
            </a:r>
            <a:r>
              <a:rPr lang="en-US" altLang="zh-CN" sz="1400" dirty="0"/>
              <a:t>NH</a:t>
            </a:r>
            <a:r>
              <a:rPr lang="en-US" altLang="zh-CN" sz="1400" baseline="-25000" dirty="0"/>
              <a:t>3</a:t>
            </a:r>
            <a:r>
              <a:rPr lang="en-US" altLang="zh-CN" sz="1400" dirty="0"/>
              <a:t>+HNO</a:t>
            </a:r>
            <a:r>
              <a:rPr lang="en-US" altLang="zh-CN" sz="1400" baseline="-25000" dirty="0"/>
              <a:t>3</a:t>
            </a:r>
            <a:r>
              <a:rPr lang="en-US" altLang="zh-CN" sz="1400" dirty="0"/>
              <a:t>⇌NH</a:t>
            </a:r>
            <a:r>
              <a:rPr lang="en-US" altLang="zh-CN" sz="1400" baseline="-25000" dirty="0"/>
              <a:t>4</a:t>
            </a:r>
            <a:r>
              <a:rPr lang="en-US" altLang="zh-CN" sz="1400" dirty="0"/>
              <a:t>NO</a:t>
            </a:r>
            <a:r>
              <a:rPr lang="en-US" altLang="zh-CN" sz="1400" baseline="-25000" dirty="0"/>
              <a:t>3</a:t>
            </a:r>
            <a:endParaRPr lang="zh-CN" altLang="en-US" sz="1400" baseline="-25000" dirty="0"/>
          </a:p>
        </p:txBody>
      </p:sp>
      <p:graphicFrame>
        <p:nvGraphicFramePr>
          <p:cNvPr id="2" name="图表 1"/>
          <p:cNvGraphicFramePr/>
          <p:nvPr>
            <p:custDataLst>
              <p:tags r:id="rId5"/>
            </p:custDataLst>
          </p:nvPr>
        </p:nvGraphicFramePr>
        <p:xfrm>
          <a:off x="3575685" y="1848485"/>
          <a:ext cx="4251960" cy="3257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截屏2026-07-19 下午9.26.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0040" y="645795"/>
            <a:ext cx="2667000" cy="923925"/>
          </a:xfrm>
          <a:prstGeom prst="rect">
            <a:avLst/>
          </a:prstGeom>
        </p:spPr>
      </p:pic>
      <p:sp>
        <p:nvSpPr>
          <p:cNvPr id="5" name="Rectangle 27"/>
          <p:cNvSpPr/>
          <p:nvPr userDrawn="1">
            <p:custDataLst>
              <p:tags r:id="rId2"/>
            </p:custDataLst>
          </p:nvPr>
        </p:nvSpPr>
        <p:spPr>
          <a:xfrm>
            <a:off x="28" y="29"/>
            <a:ext cx="12192631" cy="365731"/>
          </a:xfrm>
          <a:custGeom>
            <a:avLst/>
            <a:gdLst>
              <a:gd name="connsiteX0" fmla="*/ 12192631 w 12192631"/>
              <a:gd name="connsiteY0" fmla="*/ 0 h 661031"/>
              <a:gd name="connsiteX1" fmla="*/ 12192630 w 12192631"/>
              <a:gd name="connsiteY1" fmla="*/ 661031 h 661031"/>
              <a:gd name="connsiteX2" fmla="*/ 0 w 12192631"/>
              <a:gd name="connsiteY2" fmla="*/ 661031 h 661031"/>
              <a:gd name="connsiteX3" fmla="*/ 3 w 12192631"/>
              <a:gd name="connsiteY3" fmla="*/ 1 h 661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631" h="661031">
                <a:moveTo>
                  <a:pt x="12192631" y="0"/>
                </a:moveTo>
                <a:lnTo>
                  <a:pt x="12192630" y="661031"/>
                </a:lnTo>
                <a:lnTo>
                  <a:pt x="0" y="661031"/>
                </a:lnTo>
                <a:lnTo>
                  <a:pt x="3" y="1"/>
                </a:lnTo>
                <a:close/>
              </a:path>
            </a:pathLst>
          </a:custGeom>
          <a:pattFill prst="dkHorz">
            <a:fgClr>
              <a:srgbClr val="2956FF">
                <a:lumMod val="75000"/>
              </a:srgbClr>
            </a:fgClr>
            <a:bgClr>
              <a:srgbClr val="2956FF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/>
            <a:endParaRPr lang="zh-CN" altLang="en-US">
              <a:solidFill>
                <a:srgbClr val="FFFFF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334010" y="1939925"/>
            <a:ext cx="6099810" cy="286131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zh-CN" sz="2000" dirty="0">
                <a:latin typeface="Times New Roman Regular" panose="02020603050405020304" charset="0"/>
                <a:cs typeface="Times New Roman Regular" panose="02020603050405020304" charset="0"/>
              </a:rPr>
              <a:t>Dataset: Multi-resolution Emission Inventory for China (MEIC).</a:t>
            </a:r>
            <a:endParaRPr lang="en-US" altLang="zh-CN" sz="20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zh-CN" sz="2000" dirty="0">
                <a:latin typeface="Times New Roman Regular" panose="02020603050405020304" charset="0"/>
                <a:cs typeface="Times New Roman Regular" panose="02020603050405020304" charset="0"/>
              </a:rPr>
              <a:t>Period: 1990–2023.</a:t>
            </a:r>
            <a:endParaRPr lang="en-US" altLang="zh-CN" sz="20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zh-CN" sz="2000" dirty="0">
                <a:latin typeface="Times New Roman Regular" panose="02020603050405020304" charset="0"/>
                <a:cs typeface="Times New Roman Regular" panose="02020603050405020304" charset="0"/>
              </a:rPr>
              <a:t>Pollutants: NOx, SO₂, and NH₃.</a:t>
            </a:r>
            <a:endParaRPr lang="en-US" altLang="zh-CN" sz="20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zh-CN" sz="2000" dirty="0">
                <a:latin typeface="Times New Roman Regular" panose="02020603050405020304" charset="0"/>
                <a:cs typeface="Times New Roman Regular" panose="02020603050405020304" charset="0"/>
              </a:rPr>
              <a:t>Spatial scale: Gridded anthropogenic emissions.</a:t>
            </a:r>
            <a:endParaRPr lang="en-US" altLang="zh-CN" sz="20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zh-CN" sz="2000" dirty="0">
                <a:latin typeface="Times New Roman Regular" panose="02020603050405020304" charset="0"/>
                <a:cs typeface="Times New Roman Regular" panose="02020603050405020304" charset="0"/>
              </a:rPr>
              <a:t>Study regions:</a:t>
            </a:r>
            <a:endParaRPr lang="en-US" altLang="zh-CN" sz="20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altLang="zh-CN" sz="2000" dirty="0">
                <a:latin typeface="Times New Roman Regular" panose="02020603050405020304" charset="0"/>
                <a:cs typeface="Times New Roman Regular" panose="02020603050405020304" charset="0"/>
              </a:rPr>
              <a:t>     ◦ Pearl River Delta (PRD);</a:t>
            </a:r>
            <a:endParaRPr lang="en-US" altLang="zh-CN" sz="20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altLang="zh-CN" sz="2000" dirty="0">
                <a:latin typeface="Times New Roman Regular" panose="02020603050405020304" charset="0"/>
                <a:cs typeface="Times New Roman Regular" panose="02020603050405020304" charset="0"/>
              </a:rPr>
              <a:t>     ◦ Beijing–Tianjin–Hebei (BTH);</a:t>
            </a:r>
            <a:endParaRPr lang="en-US" altLang="zh-CN" sz="20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altLang="zh-CN" sz="2000" dirty="0">
                <a:latin typeface="Times New Roman Regular" panose="02020603050405020304" charset="0"/>
                <a:cs typeface="Times New Roman Regular" panose="02020603050405020304" charset="0"/>
              </a:rPr>
              <a:t>     ◦ Yangtze River Delta (YRD).</a:t>
            </a:r>
            <a:endParaRPr lang="en-US" altLang="zh-CN" sz="2000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pic>
        <p:nvPicPr>
          <p:cNvPr id="6" name="图片 5" descr="截屏2026-07-19 下午9.28.0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680" y="645795"/>
            <a:ext cx="4038600" cy="92392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785610" y="1764665"/>
            <a:ext cx="494982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latin typeface="Times New Roman Regular" panose="02020603050405020304" charset="0"/>
                <a:cs typeface="Times New Roman Regular" panose="02020603050405020304" charset="0"/>
              </a:rPr>
              <a:t>meteorology: MERRA2</a:t>
            </a:r>
            <a:endParaRPr lang="zh-CN" altLang="en-US" sz="20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zh-CN" altLang="en-US" sz="2000">
                <a:latin typeface="Times New Roman Regular" panose="02020603050405020304" charset="0"/>
                <a:cs typeface="Times New Roman Regular" panose="02020603050405020304" charset="0"/>
              </a:rPr>
              <a:t>emissions: CEDS; MEIC</a:t>
            </a:r>
            <a:endParaRPr lang="zh-CN" altLang="en-US" sz="20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zh-CN" altLang="en-US" sz="2000">
                <a:latin typeface="Times New Roman Regular" panose="02020603050405020304" charset="0"/>
                <a:cs typeface="Times New Roman Regular" panose="02020603050405020304" charset="0"/>
              </a:rPr>
              <a:t>resolu</a:t>
            </a:r>
            <a:r>
              <a:rPr lang="en-US" altLang="zh-CN" sz="2000">
                <a:latin typeface="Times New Roman Regular" panose="02020603050405020304" charset="0"/>
                <a:cs typeface="Times New Roman Regular" panose="02020603050405020304" charset="0"/>
              </a:rPr>
              <a:t>t</a:t>
            </a:r>
            <a:r>
              <a:rPr lang="zh-CN" altLang="en-US" sz="2000">
                <a:latin typeface="Times New Roman Regular" panose="02020603050405020304" charset="0"/>
                <a:cs typeface="Times New Roman Regular" panose="02020603050405020304" charset="0"/>
              </a:rPr>
              <a:t>ion: 0.5x0.625 nested grid</a:t>
            </a:r>
            <a:endParaRPr lang="zh-CN" altLang="en-US" sz="20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zh-CN" altLang="en-US" sz="2000">
                <a:latin typeface="Times New Roman Regular" panose="02020603050405020304" charset="0"/>
                <a:cs typeface="Times New Roman Regular" panose="02020603050405020304" charset="0"/>
              </a:rPr>
              <a:t>simulated time: 2015-2020 monthly</a:t>
            </a:r>
            <a:endParaRPr lang="zh-CN" altLang="en-US" sz="20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zh-CN" altLang="en-US" sz="2000">
                <a:latin typeface="Times New Roman Regular" panose="02020603050405020304" charset="0"/>
                <a:cs typeface="Times New Roman Regular" panose="02020603050405020304" charset="0"/>
              </a:rPr>
              <a:t>modified settings: DLUO_WETDEP = on</a:t>
            </a:r>
            <a:endParaRPr lang="zh-CN" altLang="en-US" sz="20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897120" y="6375400"/>
            <a:ext cx="2652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(Luo et al., 2020)</a:t>
            </a:r>
            <a:endParaRPr lang="zh-CN" altLang="en-US"/>
          </a:p>
        </p:txBody>
      </p:sp>
      <p:pic>
        <p:nvPicPr>
          <p:cNvPr id="3" name="图片 2" descr="截屏2026-07-19 下午9.51.0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8100" y="3458210"/>
            <a:ext cx="2237740" cy="338899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004425" y="3454400"/>
            <a:ext cx="2187575" cy="3403600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8"/>
            </p:custDataLst>
          </p:nvPr>
        </p:nvSpPr>
        <p:spPr>
          <a:xfrm>
            <a:off x="0" y="0"/>
            <a:ext cx="60305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kumimoji="1" lang="en-US" altLang="zh-CN" sz="2400" dirty="0">
                <a:solidFill>
                  <a:schemeClr val="bg1"/>
                </a:solidFill>
                <a:sym typeface="+mn-ea"/>
              </a:rPr>
              <a:t>5. Data and Methodology</a:t>
            </a:r>
            <a:endParaRPr kumimoji="1" lang="en-US" altLang="zh-CN" sz="2400" dirty="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50" y="336550"/>
            <a:ext cx="4160520" cy="27076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742926" y="5091181"/>
            <a:ext cx="636937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704020202020204" pitchFamily="34" charset="0"/>
              <a:buChar char="•"/>
            </a:pPr>
            <a:r>
              <a:rPr lang="en-US" altLang="zh-CN" sz="1400" b="0" i="0" dirty="0">
                <a:effectLst/>
                <a:latin typeface="Segoe UI" panose="020B0502040204020203" pitchFamily="34" charset="0"/>
              </a:rPr>
              <a:t>NOₓ and SO₂ emissions exhibited inverted-U trends, peaking in 2006 and 2012, respectively, reflecting energy growth, industrial expansion, and subsequent strengthened emission controls.</a:t>
            </a:r>
            <a:endParaRPr lang="en-US" altLang="zh-CN" sz="1400" b="0" i="0" dirty="0">
              <a:effectLst/>
              <a:latin typeface="Segoe UI" panose="020B0502040204020203" pitchFamily="34" charset="0"/>
            </a:endParaRPr>
          </a:p>
          <a:p>
            <a:pPr marL="285750" indent="-285750" algn="l">
              <a:buFont typeface="Arial" panose="020B0704020202020204" pitchFamily="34" charset="0"/>
              <a:buChar char="•"/>
            </a:pPr>
            <a:r>
              <a:rPr lang="en-US" altLang="zh-CN" sz="1400" b="0" i="0" dirty="0">
                <a:effectLst/>
                <a:latin typeface="Segoe UI" panose="020B0502040204020203" pitchFamily="34" charset="0"/>
              </a:rPr>
              <a:t>NH₃ emissions, driven by agricultural structure and temperature-dependent volatilization, remained comparatively stable, increasing the relative abundance of NH₃ in the national Nr budget.</a:t>
            </a:r>
            <a:endParaRPr lang="en-US" altLang="zh-CN" sz="1400" b="0" i="0" dirty="0">
              <a:effectLst/>
              <a:latin typeface="Segoe UI" panose="020B0502040204020203" pitchFamily="34" charset="0"/>
            </a:endParaRPr>
          </a:p>
          <a:p>
            <a:endParaRPr lang="zh-CN" altLang="en-US" sz="14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" y="3490595"/>
            <a:ext cx="4189730" cy="270764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0933" y="689846"/>
            <a:ext cx="3590862" cy="3571761"/>
          </a:xfrm>
          <a:prstGeom prst="rect">
            <a:avLst/>
          </a:prstGeom>
        </p:spPr>
      </p:pic>
      <p:sp>
        <p:nvSpPr>
          <p:cNvPr id="13" name="标题 1"/>
          <p:cNvSpPr>
            <a:spLocks noGrp="1"/>
          </p:cNvSpPr>
          <p:nvPr>
            <p:ph type="title"/>
          </p:nvPr>
        </p:nvSpPr>
        <p:spPr>
          <a:xfrm>
            <a:off x="139699" y="0"/>
            <a:ext cx="11370129" cy="539841"/>
          </a:xfrm>
        </p:spPr>
        <p:txBody>
          <a:bodyPr>
            <a:noAutofit/>
          </a:bodyPr>
          <a:lstStyle/>
          <a:p>
            <a:r>
              <a:rPr lang="en-US" altLang="zh-CN" sz="2000" dirty="0"/>
              <a:t> Preliminary Results</a:t>
            </a:r>
            <a:r>
              <a:rPr lang="zh-CN" altLang="en-US" sz="2000" dirty="0"/>
              <a:t>：</a:t>
            </a:r>
            <a:r>
              <a:rPr lang="en-US" altLang="zh-CN" sz="2000" b="0" i="0" dirty="0">
                <a:solidFill>
                  <a:srgbClr val="3C3C58"/>
                </a:solidFill>
                <a:effectLst/>
                <a:latin typeface="Segoe UI" panose="020B0502040204020203" pitchFamily="34" charset="0"/>
              </a:rPr>
              <a:t> National Spatiotemporal Trends of NOₓ, SO₂, and NH₃ (1990–2023)</a:t>
            </a:r>
            <a:endParaRPr lang="zh-CN" altLang="en-US" sz="2000" dirty="0"/>
          </a:p>
        </p:txBody>
      </p:sp>
      <p:sp>
        <p:nvSpPr>
          <p:cNvPr id="15" name="文本框 14"/>
          <p:cNvSpPr txBox="1"/>
          <p:nvPr/>
        </p:nvSpPr>
        <p:spPr>
          <a:xfrm>
            <a:off x="971729" y="2985064"/>
            <a:ext cx="386033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/>
              <a:t>Spatial distribution of annual, summer and winter NOx emission intensity in 1995,2010 and 2022, and the rate of change from 2010 to 2022 in China</a:t>
            </a:r>
            <a:r>
              <a:rPr lang="zh-CN" altLang="en-US" sz="1000" dirty="0"/>
              <a:t>（</a:t>
            </a:r>
            <a:r>
              <a:rPr lang="en-US" altLang="zh-CN" sz="1000" dirty="0"/>
              <a:t>106kg/month/grid)</a:t>
            </a:r>
            <a:r>
              <a:rPr lang="zh-CN" altLang="en-US" sz="1000" dirty="0"/>
              <a:t>）</a:t>
            </a:r>
            <a:endParaRPr lang="zh-CN" altLang="en-US" sz="1000" dirty="0"/>
          </a:p>
        </p:txBody>
      </p:sp>
      <p:sp>
        <p:nvSpPr>
          <p:cNvPr id="2" name="文本框 1"/>
          <p:cNvSpPr txBox="1"/>
          <p:nvPr/>
        </p:nvSpPr>
        <p:spPr>
          <a:xfrm>
            <a:off x="6368505" y="4273112"/>
            <a:ext cx="511821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/>
              <a:t>The annual emission intensity of NOx, SO ₂, and NH3 in China in 1995, 2010, and 2022.</a:t>
            </a:r>
            <a:endParaRPr lang="zh-CN" altLang="en-US" sz="1000" dirty="0"/>
          </a:p>
        </p:txBody>
      </p:sp>
      <p:sp>
        <p:nvSpPr>
          <p:cNvPr id="11" name="文本框 10"/>
          <p:cNvSpPr txBox="1"/>
          <p:nvPr/>
        </p:nvSpPr>
        <p:spPr>
          <a:xfrm>
            <a:off x="971729" y="6179890"/>
            <a:ext cx="386033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/>
              <a:t>Spatial distribution of annual, summer and winter NH3 emission intensity in 1995,2010 and 2022, and the rate of change from 2010 to 2022 in China</a:t>
            </a:r>
            <a:r>
              <a:rPr lang="zh-CN" altLang="en-US" sz="1000" dirty="0"/>
              <a:t>（</a:t>
            </a:r>
            <a:r>
              <a:rPr lang="en-US" altLang="zh-CN" sz="1000" dirty="0"/>
              <a:t>106kg/month/grid)</a:t>
            </a:r>
            <a:r>
              <a:rPr lang="zh-CN" altLang="en-US" sz="1000" dirty="0"/>
              <a:t>）</a:t>
            </a:r>
            <a:endParaRPr lang="zh-CN" alt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9700" y="0"/>
            <a:ext cx="10515600" cy="539841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6. Preliminary Results 1.2</a:t>
            </a:r>
            <a:r>
              <a:rPr lang="zh-CN" altLang="en-US" sz="2000" dirty="0"/>
              <a:t>： </a:t>
            </a:r>
            <a:r>
              <a:rPr lang="en-US" altLang="zh-CN" sz="2000" dirty="0"/>
              <a:t>PRD Spatiotemporal Trends of NOₓ, SO₂, and NH₃ (1990–2023</a:t>
            </a:r>
            <a:r>
              <a:rPr lang="en-US" altLang="zh-CN" sz="1800" dirty="0"/>
              <a:t>)</a:t>
            </a:r>
            <a:endParaRPr lang="zh-CN" altLang="en-US" sz="1800" dirty="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96" y="560520"/>
            <a:ext cx="3669409" cy="276836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4393" y="560520"/>
            <a:ext cx="3741229" cy="274373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1325" y="560521"/>
            <a:ext cx="3741229" cy="276836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332" y="3765916"/>
            <a:ext cx="3298120" cy="259639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306517" y="4050709"/>
            <a:ext cx="769806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zh-CN" sz="1400" dirty="0"/>
              <a:t>PRD NOₓ and SO₂ emissions peaked in 2006 and 2005, respectively—earlier than the national average—reflecting earlier industrialization and aggressive local governance.</a:t>
            </a:r>
            <a:endParaRPr lang="en-US" altLang="zh-CN" sz="1400" dirty="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zh-CN" sz="1400" dirty="0"/>
              <a:t>The reduced-to-oxidized nitrogen ratio increased; the regional Nr structure shifted from NOₓ-dominance toward enhanced NH₃ importance.</a:t>
            </a:r>
            <a:endParaRPr lang="en-US" altLang="zh-CN" sz="1400" dirty="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zh-CN" sz="1400" dirty="0"/>
              <a:t>Spatial evolution: from 1990s point-source dominance → 2010 urban-area diffusion → 2022 significantly reduced overall intensity. However, the Guangzhou–Foshan and Shenzhen–Dongguan metropolitan belts remain emission hotspots.</a:t>
            </a:r>
            <a:endParaRPr lang="en-US" altLang="zh-CN" sz="1400" dirty="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zh-CN" sz="1400" dirty="0"/>
              <a:t>Spatial misalignment: Post-2010, NH₃ intensity weakened in city centers but increased in peripheral agricultural areas (</a:t>
            </a:r>
            <a:r>
              <a:rPr lang="en-US" altLang="zh-CN" sz="1400" dirty="0" err="1"/>
              <a:t>Zhaoqing</a:t>
            </a:r>
            <a:r>
              <a:rPr lang="en-US" altLang="zh-CN" sz="1400" dirty="0"/>
              <a:t>, Jiangmen), creating a pronounced urban–rural gradient. This decoupling provides a coupled-precursor foundation for downwind ammonium nitrate formation.</a:t>
            </a:r>
            <a:endParaRPr lang="zh-CN" altLang="en-US" sz="1400" dirty="0"/>
          </a:p>
        </p:txBody>
      </p:sp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446187" y="3211918"/>
            <a:ext cx="386033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/>
              <a:t>Spatial distribution of annual, summer and winter NOx emission intensity in 1995,2010 and 2022, and the rate of change from 2010 to 2022 in PRD</a:t>
            </a:r>
            <a:r>
              <a:rPr lang="zh-CN" altLang="en-US" sz="1000" dirty="0"/>
              <a:t>（</a:t>
            </a:r>
            <a:r>
              <a:rPr lang="en-US" altLang="zh-CN" sz="1000" dirty="0"/>
              <a:t>10</a:t>
            </a:r>
            <a:r>
              <a:rPr lang="en-US" altLang="zh-CN" sz="1000" baseline="30000" dirty="0"/>
              <a:t>6</a:t>
            </a:r>
            <a:r>
              <a:rPr lang="en-US" altLang="zh-CN" sz="1000" dirty="0"/>
              <a:t>kg/month/grid)</a:t>
            </a:r>
            <a:r>
              <a:rPr lang="zh-CN" altLang="en-US" sz="1000" dirty="0"/>
              <a:t>）</a:t>
            </a:r>
            <a:endParaRPr lang="zh-CN" altLang="en-US" sz="1000" dirty="0"/>
          </a:p>
        </p:txBody>
      </p:sp>
      <p:sp>
        <p:nvSpPr>
          <p:cNvPr id="15" name="文本框 14"/>
          <p:cNvSpPr txBox="1"/>
          <p:nvPr/>
        </p:nvSpPr>
        <p:spPr>
          <a:xfrm>
            <a:off x="656438" y="6362308"/>
            <a:ext cx="3298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/>
              <a:t>Changes in average NOx, SO ₂, and NH3 emission intensity in the PRD from 1990 to 2023.</a:t>
            </a:r>
            <a:endParaRPr lang="zh-CN" altLang="en-US" sz="1000" dirty="0"/>
          </a:p>
        </p:txBody>
      </p:sp>
      <p:sp>
        <p:nvSpPr>
          <p:cNvPr id="14" name="文本框 13"/>
          <p:cNvSpPr txBox="1"/>
          <p:nvPr>
            <p:custDataLst>
              <p:tags r:id="rId9"/>
            </p:custDataLst>
          </p:nvPr>
        </p:nvSpPr>
        <p:spPr>
          <a:xfrm>
            <a:off x="4231774" y="3231896"/>
            <a:ext cx="386033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/>
              <a:t>Spatial distribution of annual, summer and winter SO2 emission intensity in 1995,2010 and 2022, and the rate of change from 2010 to 2022 in PRD</a:t>
            </a:r>
            <a:r>
              <a:rPr lang="zh-CN" altLang="en-US" sz="1000" dirty="0"/>
              <a:t>（</a:t>
            </a:r>
            <a:r>
              <a:rPr lang="en-US" altLang="zh-CN" sz="1000" dirty="0"/>
              <a:t>10</a:t>
            </a:r>
            <a:r>
              <a:rPr lang="en-US" altLang="zh-CN" sz="1000" baseline="30000" dirty="0"/>
              <a:t>6</a:t>
            </a:r>
            <a:r>
              <a:rPr lang="en-US" altLang="zh-CN" sz="1000" dirty="0"/>
              <a:t>kg/month/grid)</a:t>
            </a:r>
            <a:r>
              <a:rPr lang="zh-CN" altLang="en-US" sz="1000" dirty="0"/>
              <a:t>）</a:t>
            </a:r>
            <a:endParaRPr lang="zh-CN" altLang="en-US" sz="1000" dirty="0"/>
          </a:p>
        </p:txBody>
      </p:sp>
      <p:sp>
        <p:nvSpPr>
          <p:cNvPr id="16" name="文本框 15"/>
          <p:cNvSpPr txBox="1"/>
          <p:nvPr>
            <p:custDataLst>
              <p:tags r:id="rId10"/>
            </p:custDataLst>
          </p:nvPr>
        </p:nvSpPr>
        <p:spPr>
          <a:xfrm>
            <a:off x="8268462" y="3203502"/>
            <a:ext cx="386033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/>
              <a:t>Spatial distribution of annual, summer and winter NH3 emission intensity in 1995,2010 and 2022, and the rate of change from 2010 to 2022 in PRD</a:t>
            </a:r>
            <a:r>
              <a:rPr lang="zh-CN" altLang="en-US" sz="1000" dirty="0"/>
              <a:t>（</a:t>
            </a:r>
            <a:r>
              <a:rPr lang="en-US" altLang="zh-CN" sz="1000" dirty="0"/>
              <a:t>10</a:t>
            </a:r>
            <a:r>
              <a:rPr lang="en-US" altLang="zh-CN" sz="1000" baseline="30000" dirty="0"/>
              <a:t>6</a:t>
            </a:r>
            <a:r>
              <a:rPr lang="en-US" altLang="zh-CN" sz="1000" dirty="0"/>
              <a:t>kg/month/grid)</a:t>
            </a:r>
            <a:r>
              <a:rPr lang="zh-CN" altLang="en-US" sz="1000" dirty="0"/>
              <a:t>）</a:t>
            </a:r>
            <a:endParaRPr lang="zh-CN" alt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PRD年PM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2770" y="873125"/>
            <a:ext cx="3732530" cy="2332990"/>
          </a:xfrm>
          <a:prstGeom prst="rect">
            <a:avLst/>
          </a:prstGeom>
        </p:spPr>
      </p:pic>
      <p:pic>
        <p:nvPicPr>
          <p:cNvPr id="5" name="图片 4" descr="PM25_P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45" y="490855"/>
            <a:ext cx="5908675" cy="4435475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39699" y="0"/>
            <a:ext cx="11689443" cy="539841"/>
          </a:xfrm>
        </p:spPr>
        <p:txBody>
          <a:bodyPr>
            <a:no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altLang="zh-CN" sz="2000" i="0" dirty="0">
                <a:solidFill>
                  <a:srgbClr val="3C3C5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Preliminary Results 2.2:  PRD Spatiotemporal Trends and Source-Structure Evolution of PM₂.₅ (1990–2023)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635" y="3386455"/>
            <a:ext cx="3271520" cy="2952750"/>
          </a:xfrm>
          <a:prstGeom prst="rect">
            <a:avLst/>
          </a:prstGeom>
        </p:spPr>
      </p:pic>
      <p:sp>
        <p:nvSpPr>
          <p:cNvPr id="37" name="文本框 36"/>
          <p:cNvSpPr txBox="1"/>
          <p:nvPr/>
        </p:nvSpPr>
        <p:spPr>
          <a:xfrm>
            <a:off x="7485170" y="6119435"/>
            <a:ext cx="34321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/>
              <a:t>Percentage of PM2.5 emissions from different sources in PRD from 1990 to 2023</a:t>
            </a:r>
            <a:endParaRPr lang="zh-CN" altLang="en-US" sz="1000" dirty="0"/>
          </a:p>
        </p:txBody>
      </p:sp>
      <p:sp>
        <p:nvSpPr>
          <p:cNvPr id="12" name="文本框 11"/>
          <p:cNvSpPr txBox="1"/>
          <p:nvPr/>
        </p:nvSpPr>
        <p:spPr>
          <a:xfrm>
            <a:off x="208445" y="5323542"/>
            <a:ext cx="694991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zh-CN" sz="1200" dirty="0"/>
              <a:t>PRD PM₂.₅ emission intensity peaked in 2006, consistent with the national trend.</a:t>
            </a:r>
            <a:endParaRPr lang="en-US" altLang="zh-CN" sz="1200" dirty="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zh-CN" sz="1200" dirty="0"/>
              <a:t>From 2010 to 2022, overall intensity dropped significantly, yet Guangzhou–Foshan and Shenzhen–Dongguan remain high-emission zones.</a:t>
            </a:r>
            <a:endParaRPr lang="en-US" altLang="zh-CN" sz="1200" dirty="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zh-CN" sz="1200" dirty="0"/>
              <a:t>Industrial PM₂.₅ share rose from 42% (1990) to 75% (2023), while power and residential shares declined continuously.</a:t>
            </a:r>
            <a:endParaRPr lang="zh-CN" altLang="en-US" sz="1200" dirty="0"/>
          </a:p>
        </p:txBody>
      </p:sp>
      <p:sp>
        <p:nvSpPr>
          <p:cNvPr id="11" name="文本框 10"/>
          <p:cNvSpPr txBox="1"/>
          <p:nvPr/>
        </p:nvSpPr>
        <p:spPr>
          <a:xfrm>
            <a:off x="702908" y="4767701"/>
            <a:ext cx="56528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/>
              <a:t>Spatial distribution of annual, summer and winter PM2.5 emission intensity in 1995,2010 and 2022, and the rate of change from 2010 to 2022 in PRD</a:t>
            </a:r>
            <a:r>
              <a:rPr lang="zh-CN" altLang="en-US" sz="1000" dirty="0"/>
              <a:t>（</a:t>
            </a:r>
            <a:r>
              <a:rPr lang="en-US" altLang="zh-CN" sz="1000" dirty="0"/>
              <a:t>106kg/month/grid)</a:t>
            </a:r>
            <a:r>
              <a:rPr lang="zh-CN" altLang="en-US" sz="1000" dirty="0"/>
              <a:t>）</a:t>
            </a:r>
            <a:endParaRPr lang="zh-CN" altLang="en-US" sz="1000" dirty="0"/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6922770" y="3109456"/>
            <a:ext cx="427376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/>
              <a:t>Changes in PM2.5 emission intensity from different sources in the PRD from 1990 to 2023, and changes in PM2.5 emission intensity from different sources compared to 1990.</a:t>
            </a:r>
            <a:endParaRPr lang="zh-CN" alt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7160" y="97790"/>
            <a:ext cx="81273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Times New Roman Regular" panose="02020603050405020304" charset="0"/>
                <a:cs typeface="Times New Roman Regular" panose="02020603050405020304" charset="0"/>
              </a:rPr>
              <a:t>S</a:t>
            </a:r>
            <a:r>
              <a:rPr lang="zh-CN" altLang="en-US" sz="2400">
                <a:latin typeface="Times New Roman Regular" panose="02020603050405020304" charset="0"/>
                <a:cs typeface="Times New Roman Regular" panose="02020603050405020304" charset="0"/>
              </a:rPr>
              <a:t>imulated temporal changes</a:t>
            </a:r>
            <a:endParaRPr lang="zh-CN" altLang="en-US" sz="24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pic>
        <p:nvPicPr>
          <p:cNvPr id="3" name="图片 2" descr="图表, 折线图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25" y="1012190"/>
            <a:ext cx="3612515" cy="2395855"/>
          </a:xfrm>
          <a:prstGeom prst="rect">
            <a:avLst/>
          </a:prstGeom>
        </p:spPr>
      </p:pic>
      <p:pic>
        <p:nvPicPr>
          <p:cNvPr id="12" name="图片 11" descr="图表, 折线图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3560" y="990600"/>
            <a:ext cx="3725545" cy="2396490"/>
          </a:xfrm>
          <a:prstGeom prst="rect">
            <a:avLst/>
          </a:prstGeom>
        </p:spPr>
      </p:pic>
      <p:pic>
        <p:nvPicPr>
          <p:cNvPr id="9" name="图片 8" descr="图表, 折线图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605" y="3703320"/>
            <a:ext cx="3830955" cy="2520950"/>
          </a:xfrm>
          <a:prstGeom prst="rect">
            <a:avLst/>
          </a:prstGeom>
        </p:spPr>
      </p:pic>
      <p:pic>
        <p:nvPicPr>
          <p:cNvPr id="11" name="图片 10" descr="图表, 折线图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4650" y="990600"/>
            <a:ext cx="3612515" cy="2324100"/>
          </a:xfrm>
          <a:prstGeom prst="rect">
            <a:avLst/>
          </a:prstGeom>
        </p:spPr>
      </p:pic>
      <p:pic>
        <p:nvPicPr>
          <p:cNvPr id="13" name="图片 12" descr="截屏2026-05-19 上午9.43.0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380" y="3408045"/>
            <a:ext cx="3385185" cy="2635250"/>
          </a:xfrm>
          <a:prstGeom prst="rect">
            <a:avLst/>
          </a:prstGeom>
        </p:spPr>
      </p:pic>
      <p:pic>
        <p:nvPicPr>
          <p:cNvPr id="14" name="内容占位符 4" descr="图表, 折线图&#10;&#10;AI 生成的内容可能不正确。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1035" y="3546475"/>
            <a:ext cx="3386455" cy="267779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358242" y="2766218"/>
            <a:ext cx="6279244" cy="1325563"/>
          </a:xfrm>
        </p:spPr>
        <p:txBody>
          <a:bodyPr>
            <a:noAutofit/>
          </a:bodyPr>
          <a:lstStyle/>
          <a:p>
            <a:r>
              <a:rPr lang="en-US" altLang="zh-CN" sz="7200" dirty="0"/>
              <a:t>Thanks a lot!</a:t>
            </a:r>
            <a:endParaRPr lang="zh-CN" altLang="en-US" sz="72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29144_6*a*1"/>
  <p:tag name="KSO_WM_TEMPLATE_CATEGORY" val="custom"/>
  <p:tag name="KSO_WM_TEMPLATE_INDEX" val="20229144"/>
  <p:tag name="KSO_WM_UNIT_LAYERLEVEL" val="1"/>
  <p:tag name="KSO_WM_TAG_VERSION" val="1.0"/>
  <p:tag name="KSO_WM_BEAUTIFY_FLAG" val=""/>
  <p:tag name="KSO_WM_UNIT_ISCONTENTSTITLE" val="1"/>
  <p:tag name="KSO_WM_UNIT_ISNUMDGMTITLE" val="0"/>
  <p:tag name="KSO_WM_UNIT_PRESET_TEXT" val="目 录"/>
  <p:tag name="KSO_WM_UNIT_NOCLEAR" val="1"/>
  <p:tag name="KSO_WM_UNIT_VALUE" val="2"/>
  <p:tag name="KSO_WM_DIAGRAM_GROUP_CODE" val="l1-1"/>
  <p:tag name="KSO_WM_UNIT_TYPE" val="a"/>
  <p:tag name="KSO_WM_UNIT_INDEX" val="1"/>
  <p:tag name="KSO_WM_UNIT_TEXT_FILL_FORE_SCHEMECOLOR_INDEX" val="5"/>
  <p:tag name="KSO_WM_UNIT_TEXT_FILL_TYPE" val="1"/>
  <p:tag name="KSO_WM_UNIT_USESOURCEFORMAT_APPLY" val="1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DIAGRAM_VIRTUALLY_FRAME" val="{&quot;height&quot;:215.75,&quot;left&quot;:276.25,&quot;top&quot;:54.2,&quot;width&quot;:643.4}"/>
</p:tagLst>
</file>

<file path=ppt/tags/tag9.xml><?xml version="1.0" encoding="utf-8"?>
<p:tagLst xmlns:p="http://schemas.openxmlformats.org/presentationml/2006/main">
  <p:tag name="KSO_WM_DIAGRAM_VIRTUALLY_FRAME" val="{&quot;height&quot;:215.75,&quot;left&quot;:276.25,&quot;top&quot;:54.2,&quot;width&quot;:643.4}"/>
</p:tagLst>
</file>

<file path=ppt/tags/tag10.xml><?xml version="1.0" encoding="utf-8"?>
<p:tagLst xmlns:p="http://schemas.openxmlformats.org/presentationml/2006/main">
  <p:tag name="ISLIDE.TEMPLATE" val="https://www.islide.cc;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TABLE_ENDDRAG_ORIGIN_RECT" val="410*319"/>
  <p:tag name="TABLE_ENDDRAG_RECT" val="427*126*410*319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"/>
  <p:tag name="WM_BEAUTIFY_SHAPE_IDENTITY" val="{5545011d-0545-aa55-3892-5c6aabb86feb}"/>
  <p:tag name="KSO_WM_UNIT_TYPE" val="i"/>
  <p:tag name="KSO_WM_UNIT_FILL_FORE_SCHEMECOLOR_INDEX_BRIGHTNESS" val="-0.25"/>
  <p:tag name="KSO_WM_UNIT_FILL_FORE_SCHEMECOLOR_INDEX" val="5"/>
  <p:tag name="KSO_WM_UNIT_FILL_BACK_SCHEMECOLOR_INDEX_BRIGHTNESS" val="0"/>
  <p:tag name="KSO_WM_UNIT_FILL_BACK_SCHEMECOLOR_INDEX" val="5"/>
  <p:tag name="KSO_WM_UNIT_FILL_TYPE" val="2"/>
  <p:tag name="KSO_WM_UNIT_TEXT_FILL_FORE_SCHEMECOLOR_INDEX_BRIGHTNESS" val="0"/>
  <p:tag name="KSO_WM_UNIT_TEXT_FILL_FORE_SCHEMECOLOR_INDEX" val="2"/>
  <p:tag name="KSO_WM_UNIT_TEXT_FILL_TYPE" val="1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  <p:tag name="TABLE_ENDDRAG_ORIGIN_RECT" val="313*162"/>
  <p:tag name="TABLE_ENDDRAG_RECT" val="491*371*313*162"/>
</p:tagLst>
</file>

<file path=ppt/tags/tag21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"/>
  <p:tag name="WM_BEAUTIFY_SHAPE_IDENTITY" val="{5545011d-0545-aa55-3892-5c6aabb86feb}"/>
  <p:tag name="KSO_WM_UNIT_TYPE" val="i"/>
  <p:tag name="KSO_WM_UNIT_FILL_FORE_SCHEMECOLOR_INDEX_BRIGHTNESS" val="-0.25"/>
  <p:tag name="KSO_WM_UNIT_FILL_FORE_SCHEMECOLOR_INDEX" val="5"/>
  <p:tag name="KSO_WM_UNIT_FILL_BACK_SCHEMECOLOR_INDEX_BRIGHTNESS" val="0"/>
  <p:tag name="KSO_WM_UNIT_FILL_BACK_SCHEMECOLOR_INDEX" val="5"/>
  <p:tag name="KSO_WM_UNIT_FILL_TYPE" val="2"/>
  <p:tag name="KSO_WM_UNIT_TEXT_FILL_FORE_SCHEMECOLOR_INDEX_BRIGHTNESS" val="0"/>
  <p:tag name="KSO_WM_UNIT_TEXT_FILL_FORE_SCHEMECOLOR_INDEX" val="2"/>
  <p:tag name="KSO_WM_UNIT_TEXT_FILL_TYPE" val="1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"/>
  <p:tag name="WM_BEAUTIFY_SHAPE_IDENTITY" val="{3096b7a1-3b81-0294-f55b-456a0a1d4568}"/>
  <p:tag name="KSO_WM_UNIT_TYPE" val="i"/>
  <p:tag name="KSO_WM_UNIT_FILL_FORE_SCHEMECOLOR_INDEX_BRIGHTNESS" val="-0.25"/>
  <p:tag name="KSO_WM_UNIT_FILL_FORE_SCHEMECOLOR_INDEX" val="5"/>
  <p:tag name="KSO_WM_UNIT_FILL_BACK_SCHEMECOLOR_INDEX_BRIGHTNESS" val="0"/>
  <p:tag name="KSO_WM_UNIT_FILL_BACK_SCHEMECOLOR_INDEX" val="5"/>
  <p:tag name="KSO_WM_UNIT_FILL_TYPE" val="2"/>
  <p:tag name="KSO_WM_UNIT_TEXT_FILL_FORE_SCHEMECOLOR_INDEX_BRIGHTNESS" val="0"/>
  <p:tag name="KSO_WM_UNIT_TEXT_FILL_FORE_SCHEMECOLOR_INDEX" val="2"/>
  <p:tag name="KSO_WM_UNIT_TEXT_FILL_TYPE" val="1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DIAGRAM_VIRTUALLY_FRAME" val="{&quot;height&quot;:427.9606299212599,&quot;left&quot;:78.82929133858268,&quot;top&quot;:43.60811023622047,&quot;width&quot;:802.3414173228346}"/>
</p:tagLst>
</file>

<file path=ppt/tags/tag36.xml><?xml version="1.0" encoding="utf-8"?>
<p:tagLst xmlns:p="http://schemas.openxmlformats.org/presentationml/2006/main">
  <p:tag name="KSO_WM_DIAGRAM_VIRTUALLY_FRAME" val="{&quot;height&quot;:427.9606299212599,&quot;left&quot;:78.82929133858268,&quot;top&quot;:43.60811023622047,&quot;width&quot;:802.3414173228346}"/>
</p:tagLst>
</file>

<file path=ppt/tags/tag37.xml><?xml version="1.0" encoding="utf-8"?>
<p:tagLst xmlns:p="http://schemas.openxmlformats.org/presentationml/2006/main">
  <p:tag name="KSO_WM_DIAGRAM_VIRTUALLY_FRAME" val="{&quot;height&quot;:427.9606299212599,&quot;left&quot;:78.82929133858268,&quot;top&quot;:43.60811023622047,&quot;width&quot;:802.3414173228346}"/>
</p:tagLst>
</file>

<file path=ppt/tags/tag38.xml><?xml version="1.0" encoding="utf-8"?>
<p:tagLst xmlns:p="http://schemas.openxmlformats.org/presentationml/2006/main">
  <p:tag name="KSO_WM_DIAGRAM_VIRTUALLY_FRAME" val="{&quot;height&quot;:427.9606299212599,&quot;left&quot;:78.82929133858268,&quot;top&quot;:43.60811023622047,&quot;width&quot;:802.3414173228346}"/>
</p:tagLst>
</file>

<file path=ppt/tags/tag39.xml><?xml version="1.0" encoding="utf-8"?>
<p:tagLst xmlns:p="http://schemas.openxmlformats.org/presentationml/2006/main">
  <p:tag name="KSO_WM_DIAGRAM_VIRTUALLY_FRAME" val="{&quot;height&quot;:427.9606299212599,&quot;left&quot;:78.82929133858268,&quot;top&quot;:43.60811023622047,&quot;width&quot;:802.3414173228346}"/>
</p:tagLst>
</file>

<file path=ppt/tags/tag40.xml><?xml version="1.0" encoding="utf-8"?>
<p:tagLst xmlns:p="http://schemas.openxmlformats.org/presentationml/2006/main">
  <p:tag name="KSO_WM_DIAGRAM_VIRTUALLY_FRAME" val="{&quot;height&quot;:427.9606299212599,&quot;left&quot;:78.82929133858268,&quot;top&quot;:43.60811023622047,&quot;width&quot;:802.3414173228346}"/>
</p:tagLst>
</file>

<file path=ppt/tags/tag41.xml><?xml version="1.0" encoding="utf-8"?>
<p:tagLst xmlns:p="http://schemas.openxmlformats.org/presentationml/2006/main">
  <p:tag name="KSO_WM_DIAGRAM_VIRTUALLY_FRAME" val="{&quot;height&quot;:427.9606299212599,&quot;left&quot;:78.82929133858268,&quot;top&quot;:43.60811023622047,&quot;width&quot;:802.3414173228346}"/>
  <p:tag name="KSO_WM_BEAUTIFY_FLAG" val=""/>
</p:tagLst>
</file>

<file path=ppt/tags/tag42.xml><?xml version="1.0" encoding="utf-8"?>
<p:tagLst xmlns:p="http://schemas.openxmlformats.org/presentationml/2006/main">
  <p:tag name="KSO_WM_DIAGRAM_VIRTUALLY_FRAME" val="{&quot;height&quot;:427.9606299212599,&quot;left&quot;:78.82929133858268,&quot;top&quot;:43.60811023622047,&quot;width&quot;:802.3414173228346}"/>
  <p:tag name="KSO_WM_BEAUTIFY_FLAG" val=""/>
</p:tagLst>
</file>

<file path=ppt/tags/tag43.xml><?xml version="1.0" encoding="utf-8"?>
<p:tagLst xmlns:p="http://schemas.openxmlformats.org/presentationml/2006/main">
  <p:tag name="KSO_WM_DIAGRAM_VIRTUALLY_FRAME" val="{&quot;height&quot;:427.9606299212599,&quot;left&quot;:78.82929133858268,&quot;top&quot;:43.60811023622047,&quot;width&quot;:802.3414173228346}"/>
  <p:tag name="KSO_WM_BEAUTIFY_FLAG" val=""/>
</p:tagLst>
</file>

<file path=ppt/tags/tag44.xml><?xml version="1.0" encoding="utf-8"?>
<p:tagLst xmlns:p="http://schemas.openxmlformats.org/presentationml/2006/main">
  <p:tag name="KSO_WM_DIAGRAM_VIRTUALLY_FRAME" val="{&quot;height&quot;:427.9606299212599,&quot;left&quot;:78.82929133858268,&quot;top&quot;:43.60811023622047,&quot;width&quot;:802.3414173228346}"/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DIAGRAM_VIRTUALLY_FRAME" val="{&quot;height&quot;:427.9606299212599,&quot;left&quot;:78.82929133858268,&quot;top&quot;:43.60811023622047,&quot;width&quot;:802.3414173228346}"/>
  <p:tag name="KSO_WM_BEAUTIFY_FLAG" val=""/>
</p:tagLst>
</file>

<file path=ppt/tags/tag47.xml><?xml version="1.0" encoding="utf-8"?>
<p:tagLst xmlns:p="http://schemas.openxmlformats.org/presentationml/2006/main">
  <p:tag name="KSO_WM_DIAGRAM_VIRTUALLY_FRAME" val="{&quot;height&quot;:427.9606299212599,&quot;left&quot;:78.82929133858268,&quot;top&quot;:43.60811023622047,&quot;width&quot;:802.3414173228346}"/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"/>
  <p:tag name="WM_BEAUTIFY_SHAPE_IDENTITY" val="{5545011d-0545-aa55-3892-5c6aabb86feb}"/>
  <p:tag name="KSO_WM_UNIT_TYPE" val="i"/>
  <p:tag name="KSO_WM_UNIT_FILL_FORE_SCHEMECOLOR_INDEX_BRIGHTNESS" val="-0.25"/>
  <p:tag name="KSO_WM_UNIT_FILL_FORE_SCHEMECOLOR_INDEX" val="5"/>
  <p:tag name="KSO_WM_UNIT_FILL_BACK_SCHEMECOLOR_INDEX_BRIGHTNESS" val="0"/>
  <p:tag name="KSO_WM_UNIT_FILL_BACK_SCHEMECOLOR_INDEX" val="5"/>
  <p:tag name="KSO_WM_UNIT_FILL_TYPE" val="2"/>
  <p:tag name="KSO_WM_UNIT_TEXT_FILL_FORE_SCHEMECOLOR_INDEX_BRIGHTNESS" val="0"/>
  <p:tag name="KSO_WM_UNIT_TEXT_FILL_FORE_SCHEMECOLOR_INDEX" val="2"/>
  <p:tag name="KSO_WM_UNIT_TEXT_FILL_TYPE" val="1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DIAGRAM_VIRTUALLY_FRAME" val="{&quot;height&quot;:253.8631496062992,&quot;left&quot;:39.44850393700787,&quot;top&quot;:44.13543307086614,&quot;width&quot;:906.6634645669292}"/>
</p:tagLst>
</file>

<file path=ppt/tags/tag74.xml><?xml version="1.0" encoding="utf-8"?>
<p:tagLst xmlns:p="http://schemas.openxmlformats.org/presentationml/2006/main">
  <p:tag name="KSO_WM_DIAGRAM_VIRTUALLY_FRAME" val="{&quot;height&quot;:253.8631496062992,&quot;left&quot;:39.44850393700787,&quot;top&quot;:44.13543307086614,&quot;width&quot;:906.6634645669292}"/>
</p:tagLst>
</file>

<file path=ppt/tags/tag75.xml><?xml version="1.0" encoding="utf-8"?>
<p:tagLst xmlns:p="http://schemas.openxmlformats.org/presentationml/2006/main">
  <p:tag name="KSO_WM_DIAGRAM_VIRTUALLY_FRAME" val="{&quot;height&quot;:253.8631496062992,&quot;left&quot;:39.44850393700787,&quot;top&quot;:44.13543307086614,&quot;width&quot;:906.6634645669292}"/>
</p:tagLst>
</file>

<file path=ppt/tags/tag76.xml><?xml version="1.0" encoding="utf-8"?>
<p:tagLst xmlns:p="http://schemas.openxmlformats.org/presentationml/2006/main">
  <p:tag name="KSO_WM_DIAGRAM_VIRTUALLY_FRAME" val="{&quot;height&quot;:253.8631496062992,&quot;left&quot;:39.44850393700787,&quot;top&quot;:44.13543307086614,&quot;width&quot;:906.6634645669292}"/>
</p:tagLst>
</file>

<file path=ppt/tags/tag77.xml><?xml version="1.0" encoding="utf-8"?>
<p:tagLst xmlns:p="http://schemas.openxmlformats.org/presentationml/2006/main">
  <p:tag name="KSO_WM_DIAGRAM_VIRTUALLY_FRAME" val="{&quot;height&quot;:253.8631496062992,&quot;left&quot;:39.44850393700787,&quot;top&quot;:44.13543307086614,&quot;width&quot;:906.6634645669292}"/>
</p:tagLst>
</file>

<file path=ppt/tags/tag78.xml><?xml version="1.0" encoding="utf-8"?>
<p:tagLst xmlns:p="http://schemas.openxmlformats.org/presentationml/2006/main">
  <p:tag name="KSO_WM_DIAGRAM_VIRTUALLY_FRAME" val="{&quot;height&quot;:253.8631496062992,&quot;left&quot;:39.44850393700787,&quot;top&quot;:44.13543307086614,&quot;width&quot;:906.6634645669292}"/>
</p:tagLst>
</file>

<file path=ppt/tags/tag79.xml><?xml version="1.0" encoding="utf-8"?>
<p:tagLst xmlns:p="http://schemas.openxmlformats.org/presentationml/2006/main">
  <p:tag name="KSO_WM_DIAGRAM_VIRTUALLY_FRAME" val="{&quot;height&quot;:427.9606299212599,&quot;left&quot;:78.82929133858268,&quot;top&quot;:43.60811023622047,&quot;width&quot;:802.3414173228346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iplmn543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18132</Words>
  <Application>WPS 演示</Application>
  <PresentationFormat>宽屏</PresentationFormat>
  <Paragraphs>406</Paragraphs>
  <Slides>33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38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33</vt:i4>
      </vt:variant>
    </vt:vector>
  </HeadingPairs>
  <TitlesOfParts>
    <vt:vector size="74" baseType="lpstr">
      <vt:lpstr>Arial</vt:lpstr>
      <vt:lpstr>宋体</vt:lpstr>
      <vt:lpstr>Wingdings</vt:lpstr>
      <vt:lpstr>微软雅黑</vt:lpstr>
      <vt:lpstr>Segoe UI</vt:lpstr>
      <vt:lpstr>苹方-简</vt:lpstr>
      <vt:lpstr>黑体</vt:lpstr>
      <vt:lpstr>等线 Light</vt:lpstr>
      <vt:lpstr>汉仪旗黑</vt:lpstr>
      <vt:lpstr>Times New Roman Regular</vt:lpstr>
      <vt:lpstr>Times New Roman Bold</vt:lpstr>
      <vt:lpstr>汉仪中黑KW</vt:lpstr>
      <vt:lpstr>Times New Roman</vt:lpstr>
      <vt:lpstr>roboto</vt:lpstr>
      <vt:lpstr>Thonburi</vt:lpstr>
      <vt:lpstr>Open Sans</vt:lpstr>
      <vt:lpstr>proxima-nova</vt:lpstr>
      <vt:lpstr>Whitney-Semibold</vt:lpstr>
      <vt:lpstr>Segoe UI</vt:lpstr>
      <vt:lpstr>汉仪中等线KW</vt:lpstr>
      <vt:lpstr>宋体-简</vt:lpstr>
      <vt:lpstr>宋体</vt:lpstr>
      <vt:lpstr>Arial Unicode MS</vt:lpstr>
      <vt:lpstr>Calibri</vt:lpstr>
      <vt:lpstr>Helvetica Neue</vt:lpstr>
      <vt:lpstr>汉仪书宋二KW</vt:lpstr>
      <vt:lpstr>等线</vt:lpstr>
      <vt:lpstr>微软雅黑</vt:lpstr>
      <vt:lpstr>-apple-system</vt:lpstr>
      <vt:lpstr>Cambria Math</vt:lpstr>
      <vt:lpstr>Kingsoft Math</vt:lpstr>
      <vt:lpstr>等线</vt:lpstr>
      <vt:lpstr>等线</vt:lpstr>
      <vt:lpstr>宋体</vt:lpstr>
      <vt:lpstr>DejaVu Math TeX Gyre</vt:lpstr>
      <vt:lpstr>BatangChe</vt:lpstr>
      <vt:lpstr>Apple SD Gothic Neo</vt:lpstr>
      <vt:lpstr>DejaVuMathTeXGyre</vt:lpstr>
      <vt:lpstr>WPS</vt:lpstr>
      <vt:lpstr>第一PPT，www.1ppt.com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Research Gaps： Critical Gaps in PRD Air Quality Management</vt:lpstr>
      <vt:lpstr>Research Objectives</vt:lpstr>
      <vt:lpstr>PowerPoint 演示文稿</vt:lpstr>
      <vt:lpstr>PowerPoint 演示文稿</vt:lpstr>
      <vt:lpstr>MEE</vt:lpstr>
      <vt:lpstr>Long-term Evolution and Structural Transition of SO₂, NOₓ, and NH₃ Emissions in the PRD</vt:lpstr>
      <vt:lpstr>6. Preliminary Results 2.1: National Spatiotemporal Trends of PM₂.₅ Emissions (1990–2023)</vt:lpstr>
      <vt:lpstr>PowerPoint 演示文稿</vt:lpstr>
      <vt:lpstr>PowerPoint 演示文稿</vt:lpstr>
      <vt:lpstr>PowerPoint 演示文稿</vt:lpstr>
      <vt:lpstr>Impacts of Reactive Nitrogen Changes on PM₂.₅ Composition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China’s PM₂.₅ Governance Enters a New Stage</vt:lpstr>
      <vt:lpstr>7. Future Work &amp; Expected Outcomes</vt:lpstr>
      <vt:lpstr>PowerPoint 演示文稿</vt:lpstr>
      <vt:lpstr>PowerPoint 演示文稿</vt:lpstr>
      <vt:lpstr>PowerPoint 演示文稿</vt:lpstr>
      <vt:lpstr> Preliminary Results： National Spatiotemporal Trends of NOₓ, SO₂, and NH₃ (1990–2023)</vt:lpstr>
      <vt:lpstr>6. Preliminary Results 1.2： PRD Spatiotemporal Trends of NOₓ, SO₂, and NH₃ (1990–2023)</vt:lpstr>
      <vt:lpstr>6. Preliminary Results 2.2:  PRD Spatiotemporal Trends and Source-Structure Evolution of PM₂.₅ (1990–2023)</vt:lpstr>
      <vt:lpstr>PowerPoint 演示文稿</vt:lpstr>
      <vt:lpstr>Thanks a lot!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Keqin Duan</dc:creator>
  <cp:lastModifiedBy>FOB！ SRAR～</cp:lastModifiedBy>
  <cp:revision>271</cp:revision>
  <dcterms:created xsi:type="dcterms:W3CDTF">2026-09-16T01:49:21Z</dcterms:created>
  <dcterms:modified xsi:type="dcterms:W3CDTF">2026-09-16T01:49:21Z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2052-6.4.0.8550</vt:lpwstr>
  </property>
  <property fmtid="{D5CDD505-2E9C-101B-9397-08002B2CF9AE}" pid="3" name="ICV">
    <vt:lpwstr>8144BEABF3B762E69BC65E6A0990A112_43</vt:lpwstr>
  </property>
</Properties>
</file>